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7" r:id="rId8"/>
    <p:sldId id="268" r:id="rId9"/>
    <p:sldId id="269" r:id="rId10"/>
    <p:sldId id="260" r:id="rId11"/>
    <p:sldId id="261" r:id="rId12"/>
    <p:sldId id="282" r:id="rId13"/>
    <p:sldId id="263" r:id="rId14"/>
    <p:sldId id="270" r:id="rId15"/>
    <p:sldId id="271" r:id="rId16"/>
    <p:sldId id="262" r:id="rId17"/>
    <p:sldId id="264" r:id="rId18"/>
    <p:sldId id="265" r:id="rId19"/>
    <p:sldId id="266" r:id="rId20"/>
    <p:sldId id="272" r:id="rId21"/>
    <p:sldId id="273" r:id="rId22"/>
    <p:sldId id="274" r:id="rId23"/>
    <p:sldId id="275" r:id="rId24"/>
    <p:sldId id="276" r:id="rId25"/>
    <p:sldId id="279" r:id="rId26"/>
    <p:sldId id="280" r:id="rId27"/>
    <p:sldId id="281" r:id="rId28"/>
    <p:sldId id="283" r:id="rId29"/>
    <p:sldId id="340" r:id="rId30"/>
    <p:sldId id="343" r:id="rId31"/>
    <p:sldId id="341" r:id="rId32"/>
    <p:sldId id="342" r:id="rId33"/>
    <p:sldId id="344" r:id="rId34"/>
    <p:sldId id="345" r:id="rId35"/>
    <p:sldId id="354" r:id="rId36"/>
    <p:sldId id="355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15364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5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415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47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74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03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734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971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701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42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540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9160933" cy="1600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914400" y="1828800"/>
            <a:ext cx="5029200" cy="3657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46800" y="1828800"/>
            <a:ext cx="5029200" cy="1752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46800" y="3733800"/>
            <a:ext cx="5029200" cy="1752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0C88848-D0FC-44A1-900F-62B9D320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28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476809FD-9D83-4137-AB31-5EAAAAC1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1333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E69DE44-D56A-49F4-9844-ED743016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733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22D327-A7DF-4C27-A67F-03B9FD83BF9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74743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9160933" cy="1600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914400" y="1828800"/>
            <a:ext cx="5029200" cy="3657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46800" y="1828800"/>
            <a:ext cx="5029200" cy="3657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76FEBF-4FDF-4F20-9D68-6057781B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28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92B7B5-EBDD-4CD5-AC0B-DA3E6226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1333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75FC51-8B8A-4FC7-9B5F-2A5FFEF7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733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B252F5-BC66-42ED-9C05-16969859CAF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9980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C341959-2636-40B3-9F5D-FF6A5D9A2790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3326437-D456-4A6F-BF0D-C4CD70864686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85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CB57D-19A6-4093-BEEE-54EF04BEC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CD8119-A7D5-4D87-BC06-DDB2DE965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Claudio Lima</a:t>
            </a:r>
          </a:p>
          <a:p>
            <a:r>
              <a:rPr lang="pt-BR" dirty="0"/>
              <a:t>SI</a:t>
            </a:r>
          </a:p>
        </p:txBody>
      </p:sp>
    </p:spTree>
    <p:extLst>
      <p:ext uri="{BB962C8B-B14F-4D97-AF65-F5344CB8AC3E}">
        <p14:creationId xmlns:p14="http://schemas.microsoft.com/office/powerpoint/2010/main" val="259628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890B7-A771-4CE5-ACDD-223B214A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 que é Banco de Dados?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7DD917-24CB-47D2-9894-CDF1AE80A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Banco de dados esta relaciona a armazenamento, manutenção e regaste de informações em um sistema.</a:t>
            </a:r>
          </a:p>
          <a:p>
            <a:pPr marL="0" indent="0" algn="just">
              <a:buNone/>
            </a:pPr>
            <a:r>
              <a:rPr lang="pt-BR" dirty="0"/>
              <a:t>Exemplo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dirty="0"/>
              <a:t>No uso de ferramentas digitais, como celulares e computadores, quando precisamos organizar arquivos virtuais</a:t>
            </a:r>
          </a:p>
          <a:p>
            <a:pPr marL="0" indent="0" algn="just">
              <a:buNone/>
            </a:pPr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456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9911D-8C42-4AD1-98AE-41337CEF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Qual a diferencia entre Dados, informação e conhecimento? 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4CA2C4-F944-41CC-B080-CA849658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Dados – Elementos brutos, sem significado</a:t>
            </a:r>
          </a:p>
          <a:p>
            <a:r>
              <a:rPr lang="pt-BR" dirty="0"/>
              <a:t>Informação – dados organizados, com significado</a:t>
            </a:r>
          </a:p>
          <a:p>
            <a:r>
              <a:rPr lang="pt-BR" dirty="0"/>
              <a:t>Conhecimento – Informação interpretada por indivíduos </a:t>
            </a:r>
          </a:p>
          <a:p>
            <a:r>
              <a:rPr lang="pt-BR" dirty="0"/>
              <a:t>Exemplos</a:t>
            </a:r>
          </a:p>
          <a:p>
            <a:r>
              <a:rPr lang="pt-BR" dirty="0">
                <a:solidFill>
                  <a:srgbClr val="FF0000"/>
                </a:solidFill>
              </a:rPr>
              <a:t>Dados dos Funcionários </a:t>
            </a:r>
            <a:r>
              <a:rPr lang="pt-BR" dirty="0"/>
              <a:t>(nome, salário, horas trabalhadas, férias, </a:t>
            </a:r>
            <a:r>
              <a:rPr lang="pt-BR" dirty="0" err="1"/>
              <a:t>etc</a:t>
            </a:r>
            <a:r>
              <a:rPr lang="pt-BR" dirty="0"/>
              <a:t>)</a:t>
            </a:r>
          </a:p>
          <a:p>
            <a:r>
              <a:rPr lang="pt-BR" dirty="0">
                <a:solidFill>
                  <a:srgbClr val="FF0000"/>
                </a:solidFill>
              </a:rPr>
              <a:t>Informação</a:t>
            </a:r>
            <a:r>
              <a:rPr lang="pt-BR" dirty="0"/>
              <a:t> (Folha de pagamento dos funcionários, orçamento da empresa) </a:t>
            </a:r>
          </a:p>
          <a:p>
            <a:r>
              <a:rPr lang="pt-BR" dirty="0">
                <a:solidFill>
                  <a:srgbClr val="FF0000"/>
                </a:solidFill>
              </a:rPr>
              <a:t>Conhecimento</a:t>
            </a:r>
            <a:r>
              <a:rPr lang="pt-BR" dirty="0"/>
              <a:t> (estudo para reavaliar as faixas da empresa realizada pelo área de RH)</a:t>
            </a:r>
          </a:p>
        </p:txBody>
      </p:sp>
    </p:spTree>
    <p:extLst>
      <p:ext uri="{BB962C8B-B14F-4D97-AF65-F5344CB8AC3E}">
        <p14:creationId xmlns:p14="http://schemas.microsoft.com/office/powerpoint/2010/main" val="510849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6D1A-0224-4D26-B494-37EF2177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Sistema Gerenciador de dados (SGDB)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0CAC40-FF4B-4818-BBF6-13E975A5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É um pacote de ferramentas com o propósito geral de facilitar os processos de definição, compartilhamento e manipulação de um banco de dados entre vários usuários e aplicações.</a:t>
            </a:r>
          </a:p>
          <a:p>
            <a:pPr marL="0" indent="0" algn="just">
              <a:buNone/>
            </a:pPr>
            <a:r>
              <a:rPr lang="pt-BR" dirty="0"/>
              <a:t>Exemplo de alguns SGDB existente no mercado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B370B9-C984-4088-A488-29F830A68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778" y="3852380"/>
            <a:ext cx="4596614" cy="264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93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25DE3-B86B-47B8-952C-E0B45E97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Modelos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59B5BC-F86C-47A3-8DBD-866DA4BA6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É uma descrição dos tipos  de informações que estão armazenadas em um banco de dados.</a:t>
            </a:r>
          </a:p>
          <a:p>
            <a:pPr marL="0" indent="0">
              <a:buNone/>
            </a:pPr>
            <a:r>
              <a:rPr lang="pt-BR" dirty="0"/>
              <a:t>Existem 3 modelos de Banco de Dados:</a:t>
            </a:r>
          </a:p>
          <a:p>
            <a:pPr marL="0" indent="0">
              <a:buNone/>
            </a:pPr>
            <a:endParaRPr lang="pt-BR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pt-BR" dirty="0"/>
              <a:t>Modelo Conceitual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pt-BR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pt-BR" dirty="0"/>
              <a:t>Modelo Lógico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pt-BR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pt-BR" dirty="0"/>
              <a:t>Modelo Físico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986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13264-996C-4F87-918D-7C704702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Modelo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599DE0-8969-48EB-BE8F-D3CE63BFA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321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É fase em que se busca representar o mundo real por meio de uma visão simplificada dos dados.</a:t>
            </a:r>
          </a:p>
          <a:p>
            <a:pPr algn="just"/>
            <a:r>
              <a:rPr lang="pt-BR" dirty="0"/>
              <a:t>Por exemplo: </a:t>
            </a:r>
          </a:p>
          <a:p>
            <a:pPr marL="0" indent="0" algn="just">
              <a:buNone/>
            </a:pPr>
            <a:r>
              <a:rPr lang="pt-BR" dirty="0">
                <a:solidFill>
                  <a:srgbClr val="FF0000"/>
                </a:solidFill>
              </a:rPr>
              <a:t>Cadastro de um Cliente de uma loja </a:t>
            </a:r>
            <a:r>
              <a:rPr lang="pt-BR" dirty="0"/>
              <a:t>– Quais são os dados necessários para esse cadastro? </a:t>
            </a:r>
          </a:p>
          <a:p>
            <a:pPr marL="0" indent="0" algn="just">
              <a:buNone/>
            </a:pPr>
            <a:r>
              <a:rPr lang="pt-BR" dirty="0"/>
              <a:t>CPF do Cliente, Nome, endereço e demais dados importantes do cliente para a loja.</a:t>
            </a:r>
          </a:p>
          <a:p>
            <a:pPr marL="0" indent="0" algn="just">
              <a:buNone/>
            </a:pPr>
            <a:r>
              <a:rPr lang="pt-BR" dirty="0">
                <a:solidFill>
                  <a:srgbClr val="FF0000"/>
                </a:solidFill>
              </a:rPr>
              <a:t>Cadastro de uma Compra realizada pelo Cliente de uma loja </a:t>
            </a:r>
            <a:r>
              <a:rPr lang="pt-BR" dirty="0"/>
              <a:t>– Quais são os dados necessários para esse cadastro? </a:t>
            </a:r>
          </a:p>
          <a:p>
            <a:pPr marL="0" indent="0" algn="just">
              <a:buNone/>
            </a:pPr>
            <a:r>
              <a:rPr lang="pt-BR" dirty="0"/>
              <a:t>Código da Compra, Data, Quantidade, Preço e demais dados importantes da compra que o cliente realizou na loja.</a:t>
            </a:r>
          </a:p>
        </p:txBody>
      </p:sp>
    </p:spTree>
    <p:extLst>
      <p:ext uri="{BB962C8B-B14F-4D97-AF65-F5344CB8AC3E}">
        <p14:creationId xmlns:p14="http://schemas.microsoft.com/office/powerpoint/2010/main" val="125761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F0D03-1194-462C-AC76-00D3229AC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9" y="365125"/>
            <a:ext cx="11357113" cy="1325563"/>
          </a:xfrm>
        </p:spPr>
        <p:txBody>
          <a:bodyPr/>
          <a:lstStyle/>
          <a:p>
            <a:pPr algn="ctr"/>
            <a:r>
              <a:rPr lang="pt-BR" dirty="0"/>
              <a:t>Modelo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B41E21-F400-442B-89A0-2E90D2701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diagrama(DER) representa a situação por exemplo o estoque do supermercado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0AE001-A52C-44D4-89AE-A7F0EEA3A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11" y="3080292"/>
            <a:ext cx="914400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88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E49CC-D685-4BA0-910F-21E7B501F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4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Entidade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3274A3-34D8-48D6-AED0-23710E1A4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1965"/>
            <a:ext cx="10664687" cy="4864998"/>
          </a:xfrm>
        </p:spPr>
        <p:txBody>
          <a:bodyPr/>
          <a:lstStyle/>
          <a:p>
            <a:r>
              <a:rPr lang="pt-BR" dirty="0"/>
              <a:t>Representação de um objetivo no mundo real. Pode ser um objetivo com existência física ou conceitual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representação de uma </a:t>
            </a:r>
            <a:r>
              <a:rPr lang="pt-BR" dirty="0">
                <a:solidFill>
                  <a:srgbClr val="FF0000"/>
                </a:solidFill>
              </a:rPr>
              <a:t>Entidade</a:t>
            </a:r>
            <a:r>
              <a:rPr lang="pt-BR" dirty="0"/>
              <a:t> no DER é feito por um </a:t>
            </a:r>
            <a:r>
              <a:rPr lang="pt-BR" dirty="0">
                <a:solidFill>
                  <a:srgbClr val="FF0000"/>
                </a:solidFill>
              </a:rPr>
              <a:t>RETÂNGULO</a:t>
            </a:r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440F6E0-36CF-44ED-98E2-565102D54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142" y="2217462"/>
            <a:ext cx="9448800" cy="21050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379A7FD-EE7F-492C-916E-736629774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779" y="5396173"/>
            <a:ext cx="762952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98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A1EEF4-5FB9-4576-B942-1D8120DC8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1355" y="1343816"/>
            <a:ext cx="10277061" cy="4142583"/>
          </a:xfrm>
        </p:spPr>
        <p:txBody>
          <a:bodyPr/>
          <a:lstStyle/>
          <a:p>
            <a:r>
              <a:rPr lang="pt-BR" b="1" dirty="0"/>
              <a:t>Entidade Forte</a:t>
            </a:r>
          </a:p>
          <a:p>
            <a:pPr marL="0" indent="0" algn="just">
              <a:buNone/>
            </a:pPr>
            <a:r>
              <a:rPr lang="pt-BR" dirty="0"/>
              <a:t>Uma entidade é considerada forte quando existe por ela só, independentemente da existência de outras entidades. Por exemplo, em um sistema acadêmico, a </a:t>
            </a:r>
            <a:r>
              <a:rPr lang="pt-BR" b="1" dirty="0"/>
              <a:t>entidade curso </a:t>
            </a:r>
            <a:r>
              <a:rPr lang="pt-BR" dirty="0"/>
              <a:t>independe de quaisquer outras para existir, portanto, é considerada “forte”.</a:t>
            </a:r>
          </a:p>
          <a:p>
            <a:pPr algn="just"/>
            <a:r>
              <a:rPr lang="pt-BR" b="1" dirty="0"/>
              <a:t>Entidade Fraca</a:t>
            </a:r>
          </a:p>
          <a:p>
            <a:pPr marL="0" indent="0" algn="just">
              <a:buNone/>
            </a:pPr>
            <a:r>
              <a:rPr lang="pt-BR" dirty="0"/>
              <a:t>Ao contrário das entidades fortes, as fracas são aquelas que dependem de outras entidades para existir.</a:t>
            </a:r>
            <a:endParaRPr lang="pt-BR" b="1" dirty="0"/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B217D37-4B89-4165-A954-8CBBE5D0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4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Entidades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5593D6-2FBC-41FD-9711-8146EC568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219" y="4188621"/>
            <a:ext cx="754003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17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2CE2D-CCB1-466E-A374-F29D034D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D5C09-58D5-43FB-8E30-61D6942CB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prioridades particulares que descrevem uma determinada entidade. </a:t>
            </a:r>
          </a:p>
          <a:p>
            <a:r>
              <a:rPr lang="pt-BR" dirty="0"/>
              <a:t>Atributos são representados por </a:t>
            </a:r>
            <a:r>
              <a:rPr lang="pt-BR" dirty="0">
                <a:solidFill>
                  <a:srgbClr val="FF0000"/>
                </a:solidFill>
              </a:rPr>
              <a:t>elipses</a:t>
            </a:r>
          </a:p>
          <a:p>
            <a:pPr marL="0" indent="0">
              <a:buNone/>
            </a:pP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B31F59-21D6-470C-B95D-6381B95B1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492" y="3697356"/>
            <a:ext cx="8450446" cy="212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58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8AAD7-B63E-412C-B97B-589FAE43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E9F643-7D72-4C99-9F0A-6EC0C60C8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191" y="1439173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Os atributos são as propriedades que caracterizam uma entidade. Os atributos podem ser classificados de diversas formas: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Simples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dirty="0"/>
              <a:t>É um atributo que não pode ser dividido. Por exemplo: CPF, NOME, CEP.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D14DECC-9F4E-439B-A184-8F3D0FD0398F}"/>
              </a:ext>
            </a:extLst>
          </p:cNvPr>
          <p:cNvSpPr/>
          <p:nvPr/>
        </p:nvSpPr>
        <p:spPr>
          <a:xfrm>
            <a:off x="2120348" y="4786450"/>
            <a:ext cx="2398643" cy="1099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CLIENTES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469A268-7CCE-415A-BBA6-BE9308632ED5}"/>
              </a:ext>
            </a:extLst>
          </p:cNvPr>
          <p:cNvSpPr/>
          <p:nvPr/>
        </p:nvSpPr>
        <p:spPr>
          <a:xfrm>
            <a:off x="3869635" y="4041913"/>
            <a:ext cx="1550504" cy="6228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u="sng" dirty="0"/>
              <a:t>CPF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866A753-2A85-4FC3-A741-D0E833CE6267}"/>
              </a:ext>
            </a:extLst>
          </p:cNvPr>
          <p:cNvSpPr/>
          <p:nvPr/>
        </p:nvSpPr>
        <p:spPr>
          <a:xfrm>
            <a:off x="4944840" y="4769989"/>
            <a:ext cx="1550504" cy="6228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NOME</a:t>
            </a:r>
          </a:p>
        </p:txBody>
      </p:sp>
      <p:sp>
        <p:nvSpPr>
          <p:cNvPr id="7" name="Elipse 6" descr="OI&#10;">
            <a:extLst>
              <a:ext uri="{FF2B5EF4-FFF2-40B4-BE49-F238E27FC236}">
                <a16:creationId xmlns:a16="http://schemas.microsoft.com/office/drawing/2014/main" id="{5B752169-A515-4052-86AF-5E07C502AF77}"/>
              </a:ext>
            </a:extLst>
          </p:cNvPr>
          <p:cNvSpPr/>
          <p:nvPr/>
        </p:nvSpPr>
        <p:spPr>
          <a:xfrm>
            <a:off x="4797287" y="5730909"/>
            <a:ext cx="1550504" cy="6228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CEP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60884B-5E98-4B8F-8C54-E00EB8AC4F4D}"/>
              </a:ext>
            </a:extLst>
          </p:cNvPr>
          <p:cNvCxnSpPr>
            <a:endCxn id="5" idx="3"/>
          </p:cNvCxnSpPr>
          <p:nvPr/>
        </p:nvCxnSpPr>
        <p:spPr>
          <a:xfrm flipV="1">
            <a:off x="3657600" y="4573550"/>
            <a:ext cx="439101" cy="212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BEE1CCF-947E-413B-B3D1-359661FD84CB}"/>
              </a:ext>
            </a:extLst>
          </p:cNvPr>
          <p:cNvCxnSpPr/>
          <p:nvPr/>
        </p:nvCxnSpPr>
        <p:spPr>
          <a:xfrm flipV="1">
            <a:off x="4518991" y="5081415"/>
            <a:ext cx="439101" cy="212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E223449F-ADAC-4A1C-83B2-D7ACF2BE580E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4518991" y="5784902"/>
            <a:ext cx="278296" cy="257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161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E0ADC-F1B4-4566-BAB1-D24600B1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0" y="0"/>
            <a:ext cx="9601200" cy="1485900"/>
          </a:xfrm>
        </p:spPr>
        <p:txBody>
          <a:bodyPr/>
          <a:lstStyle/>
          <a:p>
            <a:pPr algn="ctr"/>
            <a:r>
              <a:rPr lang="pt-BR" dirty="0"/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D7B6C7-ADBA-4869-909B-107B0D5D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399" y="803275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Composto</a:t>
            </a:r>
          </a:p>
          <a:p>
            <a:pPr marL="0" indent="0">
              <a:buNone/>
            </a:pPr>
            <a:r>
              <a:rPr lang="pt-BR" dirty="0"/>
              <a:t>É um atributo formado por vários atributos simples. </a:t>
            </a:r>
          </a:p>
          <a:p>
            <a:pPr marL="0" indent="0">
              <a:buNone/>
            </a:pPr>
            <a:r>
              <a:rPr lang="pt-BR" dirty="0"/>
              <a:t>Por exemplo: O atributo </a:t>
            </a:r>
            <a:r>
              <a:rPr lang="pt-BR" dirty="0">
                <a:solidFill>
                  <a:srgbClr val="FF0000"/>
                </a:solidFill>
              </a:rPr>
              <a:t>endereço</a:t>
            </a:r>
            <a:r>
              <a:rPr lang="pt-BR" dirty="0"/>
              <a:t> pode ser decomposto por vários valores: nome da rua, número do prédio, cidade, estado e CEP. </a:t>
            </a:r>
            <a:endParaRPr lang="pt-BR" dirty="0">
              <a:solidFill>
                <a:srgbClr val="FF0000"/>
              </a:solidFill>
            </a:endParaRP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36CF948-54AB-478E-B070-B019D7622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453" y="2397125"/>
            <a:ext cx="4543425" cy="2790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7975D1B-C8F3-43D0-8AA4-F74F3CA2754A}"/>
              </a:ext>
            </a:extLst>
          </p:cNvPr>
          <p:cNvSpPr/>
          <p:nvPr/>
        </p:nvSpPr>
        <p:spPr>
          <a:xfrm>
            <a:off x="1295398" y="5290930"/>
            <a:ext cx="102604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Multivalorado</a:t>
            </a:r>
          </a:p>
          <a:p>
            <a:r>
              <a:rPr lang="pt-BR" dirty="0"/>
              <a:t>O seu conteúdo é formado por mais de um valor.</a:t>
            </a:r>
          </a:p>
          <a:p>
            <a:r>
              <a:rPr lang="pt-BR" dirty="0"/>
              <a:t>Exemplo: </a:t>
            </a:r>
            <a:r>
              <a:rPr lang="pt-BR" b="1" dirty="0"/>
              <a:t>Telefone</a:t>
            </a:r>
            <a:r>
              <a:rPr lang="pt-BR" dirty="0"/>
              <a:t>. Uma pessoa poderá ter mais de um número de telefone.</a:t>
            </a:r>
          </a:p>
        </p:txBody>
      </p:sp>
    </p:spTree>
    <p:extLst>
      <p:ext uri="{BB962C8B-B14F-4D97-AF65-F5344CB8AC3E}">
        <p14:creationId xmlns:p14="http://schemas.microsoft.com/office/powerpoint/2010/main" val="2983892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70D9B-0FE6-467E-BA3F-DCDE81E0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C5000F-592D-4D9C-8DAC-06D2C9401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conexão lógica entre duas ou mais entidades dá-se o nome de </a:t>
            </a:r>
            <a:r>
              <a:rPr lang="pt-BR" dirty="0">
                <a:solidFill>
                  <a:srgbClr val="FF0000"/>
                </a:solidFill>
              </a:rPr>
              <a:t>relacionamento, </a:t>
            </a:r>
            <a:r>
              <a:rPr lang="pt-BR" dirty="0"/>
              <a:t>representado por um </a:t>
            </a:r>
            <a:r>
              <a:rPr lang="pt-BR" dirty="0">
                <a:solidFill>
                  <a:srgbClr val="FF0000"/>
                </a:solidFill>
              </a:rPr>
              <a:t>losango.</a:t>
            </a: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Exemplo de um DER de um banco de dados feito para um sistema acadêmico de uma escola.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065D2A-E350-42DA-AA79-5DC32B19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039" y="4001294"/>
            <a:ext cx="705802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04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14732-4216-4AF0-9E94-30A44C8B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Tipos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F664A7-6DD6-48B0-823B-C6F1D389F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/>
              <a:t>Defini a forma como as entidades se relacionam entre si “comunicação”</a:t>
            </a:r>
          </a:p>
          <a:p>
            <a:r>
              <a:rPr lang="pt-BR" dirty="0">
                <a:solidFill>
                  <a:srgbClr val="FF0000"/>
                </a:solidFill>
              </a:rPr>
              <a:t>Relacionamento 1..1 (um para um )</a:t>
            </a:r>
          </a:p>
          <a:p>
            <a:pPr lvl="1"/>
            <a:r>
              <a:rPr lang="pt-BR" dirty="0"/>
              <a:t>São relacionamento entre 2 entidades </a:t>
            </a:r>
          </a:p>
          <a:p>
            <a:pPr lvl="1"/>
            <a:r>
              <a:rPr lang="pt-BR" dirty="0"/>
              <a:t>Exemplo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457200" lvl="1" indent="0">
              <a:buNone/>
            </a:pPr>
            <a:r>
              <a:rPr lang="pt-BR" dirty="0"/>
              <a:t>Cada usuário cadastrado deve possuir necessariamente apenas um currículo, ao mesmo tempo em que cada currículo só pertence a um único usuário cadastrado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A36520-B3D0-4F50-9DF6-E06C88E74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486" y="3299619"/>
            <a:ext cx="70199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48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587AB-7B33-4CB7-BCCB-409962E6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65"/>
            <a:ext cx="10515600" cy="1597923"/>
          </a:xfrm>
        </p:spPr>
        <p:txBody>
          <a:bodyPr/>
          <a:lstStyle/>
          <a:p>
            <a:pPr algn="ctr"/>
            <a:r>
              <a:rPr lang="pt-BR" dirty="0"/>
              <a:t>Tipos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AAD4D3-401E-4E9C-949F-372BE172C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696"/>
            <a:ext cx="10922392" cy="5094340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Relacionamento 1..n ou 1..n (um para muitos)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/>
              <a:t>São relacionamentos em que uma das entidades envolvidas a </a:t>
            </a:r>
            <a:r>
              <a:rPr lang="pt-BR" dirty="0">
                <a:solidFill>
                  <a:srgbClr val="FF0000"/>
                </a:solidFill>
              </a:rPr>
              <a:t>várias unidades da outra entidade.</a:t>
            </a:r>
          </a:p>
          <a:p>
            <a:pPr marL="0" indent="0">
              <a:buNone/>
            </a:pPr>
            <a:r>
              <a:rPr lang="pt-BR" dirty="0"/>
              <a:t>Exemplo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Um sistema para cadastro de livros em biblioteca. Uma editora pode publicar vários livros, mas cada livro poder ser publicado por apenas um editora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3B79BB0-3D9A-4B96-9F94-842B39D40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540" y="2880838"/>
            <a:ext cx="651510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00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6E399-E9DC-4BDA-AFE8-23D60D9A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Tipos de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BFCFE7-240B-4A9E-A40A-E69BED40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Relacionamento </a:t>
            </a:r>
            <a:r>
              <a:rPr lang="pt-BR" dirty="0" err="1">
                <a:solidFill>
                  <a:srgbClr val="FF0000"/>
                </a:solidFill>
              </a:rPr>
              <a:t>n..n</a:t>
            </a:r>
            <a:r>
              <a:rPr lang="pt-BR" dirty="0">
                <a:solidFill>
                  <a:srgbClr val="FF0000"/>
                </a:solidFill>
              </a:rPr>
              <a:t> (muitos para muitos)</a:t>
            </a:r>
          </a:p>
          <a:p>
            <a:pPr marL="0" indent="0" algn="just">
              <a:buNone/>
            </a:pPr>
            <a:r>
              <a:rPr lang="pt-BR" dirty="0"/>
              <a:t>Nesse tipo de relacionamento, cada entidade pode fazer referência a múltipla unidades da outra.</a:t>
            </a:r>
          </a:p>
          <a:p>
            <a:pPr marL="0" indent="0" algn="just">
              <a:buNone/>
            </a:pPr>
            <a:r>
              <a:rPr lang="pt-BR" dirty="0"/>
              <a:t>Em um sistema de controle de projetos, um engenheiro pode desenvolver vários projetos e ao mesmo tempo um projeto pode ser desenvolvido por vários engenheiros. Assim, um objeto do tipo engenheiro pode referenciar múltiplos objetos do tipo projeto, e vice versa.  </a:t>
            </a:r>
            <a:endParaRPr lang="pt-BR" dirty="0">
              <a:solidFill>
                <a:srgbClr val="FF0000"/>
              </a:solidFill>
            </a:endParaRP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254364F-0937-46E3-8CC9-35FF52C0E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5426075"/>
            <a:ext cx="63722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01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D393A-C066-46D7-90CC-83106C54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EEB750-C05E-40E8-B5CD-6E8923F0F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739"/>
            <a:ext cx="10730948" cy="4719224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Uma biblioteca</a:t>
            </a:r>
            <a:r>
              <a:rPr lang="pt-BR" b="1" dirty="0"/>
              <a:t> </a:t>
            </a:r>
            <a:r>
              <a:rPr lang="pt-BR" dirty="0"/>
              <a:t>deseja manter informações sobre seus </a:t>
            </a:r>
            <a:r>
              <a:rPr lang="pt-BR" b="1" dirty="0"/>
              <a:t>livros</a:t>
            </a:r>
            <a:r>
              <a:rPr lang="pt-BR" dirty="0"/>
              <a:t>. Inicialmente, quer armazenar para os livros as seguintes características: ISBN, título, ano editora e autores deste livro. Para os </a:t>
            </a:r>
            <a:r>
              <a:rPr lang="pt-BR" b="1" dirty="0"/>
              <a:t>autores</a:t>
            </a:r>
            <a:r>
              <a:rPr lang="pt-BR" dirty="0"/>
              <a:t>, deseja manter: nome e nacionalidade. Cabe salientar que </a:t>
            </a:r>
            <a:r>
              <a:rPr lang="pt-BR" dirty="0">
                <a:solidFill>
                  <a:srgbClr val="FF0000"/>
                </a:solidFill>
              </a:rPr>
              <a:t>um autor pode ter vários livros</a:t>
            </a:r>
            <a:r>
              <a:rPr lang="pt-BR" dirty="0"/>
              <a:t>, assim como </a:t>
            </a:r>
            <a:r>
              <a:rPr lang="pt-BR" dirty="0">
                <a:solidFill>
                  <a:srgbClr val="FF0000"/>
                </a:solidFill>
              </a:rPr>
              <a:t>um livro pode ser escrito por vários autores</a:t>
            </a:r>
            <a:r>
              <a:rPr lang="pt-BR" dirty="0"/>
              <a:t>. Cada </a:t>
            </a:r>
            <a:r>
              <a:rPr lang="pt-BR" dirty="0">
                <a:solidFill>
                  <a:srgbClr val="FF0000"/>
                </a:solidFill>
              </a:rPr>
              <a:t>livro da biblioteca pertence a uma</a:t>
            </a:r>
            <a:r>
              <a:rPr lang="pt-BR" dirty="0"/>
              <a:t> </a:t>
            </a:r>
            <a:r>
              <a:rPr lang="pt-BR" b="1" dirty="0"/>
              <a:t>categoria</a:t>
            </a:r>
            <a:r>
              <a:rPr lang="pt-BR" dirty="0"/>
              <a:t>. A biblioteca deseja manter um cadastro de todas as categorias existentes, com informações como: código da categoria e descrição. Uma categoria pode ter vários livros associados a ela.</a:t>
            </a:r>
          </a:p>
        </p:txBody>
      </p:sp>
    </p:spTree>
    <p:extLst>
      <p:ext uri="{BB962C8B-B14F-4D97-AF65-F5344CB8AC3E}">
        <p14:creationId xmlns:p14="http://schemas.microsoft.com/office/powerpoint/2010/main" val="3974468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CE810-0603-4BC9-8BE0-E1BB0034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9C9E39-F5D3-4D63-9C6B-59A803781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Conceitual</a:t>
            </a:r>
          </a:p>
          <a:p>
            <a:pPr marL="0" indent="0" algn="just">
              <a:buNone/>
            </a:pPr>
            <a:r>
              <a:rPr lang="pt-BR" dirty="0">
                <a:solidFill>
                  <a:srgbClr val="FF0000"/>
                </a:solidFill>
              </a:rPr>
              <a:t>Livro </a:t>
            </a:r>
            <a:r>
              <a:rPr lang="pt-BR" dirty="0"/>
              <a:t>– Quais são os dados necessários para a biblioteca? </a:t>
            </a:r>
          </a:p>
          <a:p>
            <a:pPr marL="0" indent="0" algn="just">
              <a:buNone/>
            </a:pPr>
            <a:r>
              <a:rPr lang="pt-BR" dirty="0"/>
              <a:t>ISBN, título, ano editora e autores deste livro.</a:t>
            </a:r>
          </a:p>
          <a:p>
            <a:pPr marL="0" indent="0" algn="just">
              <a:buNone/>
            </a:pPr>
            <a:r>
              <a:rPr lang="pt-BR" dirty="0">
                <a:solidFill>
                  <a:srgbClr val="FF0000"/>
                </a:solidFill>
              </a:rPr>
              <a:t>Autor</a:t>
            </a:r>
            <a:r>
              <a:rPr lang="pt-BR" dirty="0"/>
              <a:t>– Quais são os dados necessários para a biblioteca? </a:t>
            </a:r>
          </a:p>
          <a:p>
            <a:pPr marL="0" indent="0" algn="just">
              <a:buNone/>
            </a:pPr>
            <a:r>
              <a:rPr lang="pt-BR" dirty="0"/>
              <a:t>Nome e nacionalidade</a:t>
            </a:r>
          </a:p>
          <a:p>
            <a:pPr marL="0" indent="0" algn="just">
              <a:buNone/>
            </a:pPr>
            <a:r>
              <a:rPr lang="pt-BR" dirty="0">
                <a:solidFill>
                  <a:srgbClr val="FF0000"/>
                </a:solidFill>
              </a:rPr>
              <a:t>Categoria</a:t>
            </a:r>
            <a:r>
              <a:rPr lang="pt-BR" dirty="0"/>
              <a:t> - Quais são os dados necessários para a biblioteca? </a:t>
            </a:r>
          </a:p>
          <a:p>
            <a:pPr marL="0" indent="0" algn="just">
              <a:buNone/>
            </a:pPr>
            <a:r>
              <a:rPr lang="pt-BR" dirty="0"/>
              <a:t>código da categoria e descrição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585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AED0FC-0F08-4779-87FD-CD8714F24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679" y="179905"/>
            <a:ext cx="10515600" cy="4351338"/>
          </a:xfrm>
        </p:spPr>
        <p:txBody>
          <a:bodyPr/>
          <a:lstStyle/>
          <a:p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Demostrando o modelo conceitual e com irá ficar no modelo lógico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8D7173-1EED-440E-9963-A4CC89971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9" y="1280250"/>
            <a:ext cx="7113104" cy="37623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2BFEE3D-4184-4E77-A6AA-037ECCA3F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361" y="3187717"/>
            <a:ext cx="8729933" cy="268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74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46A40C-A7D6-455A-85F8-2C4E1F34F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965" y="593173"/>
            <a:ext cx="10515600" cy="4351338"/>
          </a:xfrm>
        </p:spPr>
        <p:txBody>
          <a:bodyPr/>
          <a:lstStyle/>
          <a:p>
            <a:pPr algn="just"/>
            <a:r>
              <a:rPr lang="pt-BR" dirty="0"/>
              <a:t>Uma </a:t>
            </a:r>
            <a:r>
              <a:rPr lang="pt-BR" dirty="0">
                <a:solidFill>
                  <a:srgbClr val="FF0000"/>
                </a:solidFill>
              </a:rPr>
              <a:t>chave primária </a:t>
            </a:r>
            <a:r>
              <a:rPr lang="pt-BR" dirty="0"/>
              <a:t>é um atributo que possui um valor único para cada entidade individual. Em outras palavras, Chaves Primárias (</a:t>
            </a:r>
            <a:r>
              <a:rPr lang="pt-BR" dirty="0" err="1"/>
              <a:t>Primary</a:t>
            </a:r>
            <a:r>
              <a:rPr lang="pt-BR" dirty="0"/>
              <a:t> Keys ou “PK”)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Quando uma entidade apresenta um atributo importado de outra entidade, esse atributo é denominado </a:t>
            </a:r>
            <a:r>
              <a:rPr lang="pt-BR" dirty="0">
                <a:solidFill>
                  <a:srgbClr val="FF0000"/>
                </a:solidFill>
              </a:rPr>
              <a:t>chave estrangeira</a:t>
            </a:r>
            <a:r>
              <a:rPr lang="pt-BR" dirty="0"/>
              <a:t>. As chaves estrangeiras são o resultado de associações entre entidades.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348E8D-263A-424A-BD64-F1AC40D9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249" y="1478282"/>
            <a:ext cx="3812344" cy="129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9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03F0D9D-0231-45E7-A9FF-F748ABDC4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09135"/>
            <a:ext cx="5876925" cy="474345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65FA9E5-C025-4B21-9FA7-8E11CDB14252}"/>
              </a:ext>
            </a:extLst>
          </p:cNvPr>
          <p:cNvSpPr/>
          <p:nvPr/>
        </p:nvSpPr>
        <p:spPr>
          <a:xfrm>
            <a:off x="1630017" y="5189608"/>
            <a:ext cx="101114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solidFill>
                  <a:srgbClr val="000000"/>
                </a:solidFill>
                <a:latin typeface="Comic Sans MS" panose="030F0702030302020204" pitchFamily="66" charset="0"/>
              </a:rPr>
              <a:t>Mas... por que é importante utilizar chaves estrangeiras? </a:t>
            </a:r>
            <a:endParaRPr lang="pt-BR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just"/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Com a chave estrangeira, podemos facilitar as consultas e fazer cruzamentos de dados por meio destas referências. Dessa forma, uma chave estrangeira sempre será necessária quando houver o relacionamento entre duas tabelas. </a:t>
            </a:r>
            <a:endParaRPr lang="pt-BR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3103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5F73B-3708-4A5C-BD8B-27637E73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485CB0-8296-4765-BCB5-8355461D7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9601200" cy="3581400"/>
          </a:xfrm>
        </p:spPr>
        <p:txBody>
          <a:bodyPr/>
          <a:lstStyle/>
          <a:p>
            <a:pPr algn="just"/>
            <a:r>
              <a:rPr lang="pt-BR" dirty="0"/>
              <a:t>O mapeamento é um detalhamento do modelo lógico, feito a partir do Diagrama Entidade Relacionamento.</a:t>
            </a:r>
          </a:p>
          <a:p>
            <a:pPr algn="just"/>
            <a:r>
              <a:rPr lang="pt-BR" dirty="0"/>
              <a:t>Orientando-se pelas seis regras indicadas a seguir, você fará a leitura do DER e registrará as informações nele contidas em um outro formato, que já indica a quantidade e estrutura das tabelas do BD. </a:t>
            </a:r>
          </a:p>
          <a:p>
            <a:pPr algn="just"/>
            <a:r>
              <a:rPr lang="pt-BR" dirty="0"/>
              <a:t>Regras</a:t>
            </a:r>
          </a:p>
          <a:p>
            <a:pPr algn="just"/>
            <a:r>
              <a:rPr lang="pt-BR" dirty="0"/>
              <a:t>1ª Identificar todas as entidades regulares (não fracas) e seus atributos.</a:t>
            </a:r>
          </a:p>
          <a:p>
            <a:pPr algn="just"/>
            <a:r>
              <a:rPr lang="pt-BR" dirty="0"/>
              <a:t>1ª </a:t>
            </a:r>
          </a:p>
        </p:txBody>
      </p:sp>
    </p:spTree>
    <p:extLst>
      <p:ext uri="{BB962C8B-B14F-4D97-AF65-F5344CB8AC3E}">
        <p14:creationId xmlns:p14="http://schemas.microsoft.com/office/powerpoint/2010/main" val="246746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98E2458-70F1-421B-B784-3DAFF8F1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461" y="424167"/>
            <a:ext cx="10491996" cy="556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65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9011723-6328-42CA-BDC3-5529441C8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099" y="890951"/>
            <a:ext cx="7824040" cy="415971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6F5BE57-9E36-4CE5-96B5-6633B5FF6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867" y="5050667"/>
            <a:ext cx="6155214" cy="181927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F629C1F-50B5-4F20-B678-6AB23E9C768E}"/>
              </a:ext>
            </a:extLst>
          </p:cNvPr>
          <p:cNvSpPr/>
          <p:nvPr/>
        </p:nvSpPr>
        <p:spPr>
          <a:xfrm>
            <a:off x="728870" y="0"/>
            <a:ext cx="112113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1ª Identificar todas as entidades regulares (não fracas) e seus atributos Você percebeu que o atributo localização, da entidade Departamento, não foi representado no mapeamento. Isso porque é um </a:t>
            </a:r>
            <a:r>
              <a:rPr lang="pt-BR" b="1" dirty="0"/>
              <a:t>atributo multivalorado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2081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39F5585-7A87-4A1E-9519-C54CFC3B7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748" y="0"/>
            <a:ext cx="9004443" cy="479268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8E7441F-1463-41CC-9792-5BA5C1870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994" y="4983481"/>
            <a:ext cx="79819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36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CF4B291-DBB6-49B1-8A54-23350995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04850"/>
            <a:ext cx="8229600" cy="50958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pt-BR" sz="3200" b="1"/>
              <a:t>Modelo Lógico</a:t>
            </a:r>
            <a:endParaRPr lang="pt-BR" altLang="pt-BR" sz="3200" b="1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B58A5A7-875B-4524-B11D-EA429E47D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1828800"/>
            <a:ext cx="7918450" cy="3657600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pt-BR" altLang="pt-BR" sz="2400"/>
          </a:p>
          <a:p>
            <a:pPr algn="ctr" eaLnBrk="1" hangingPunct="1">
              <a:buFontTx/>
              <a:buNone/>
            </a:pPr>
            <a:r>
              <a:rPr lang="pt-BR" altLang="pt-BR" sz="2400"/>
              <a:t>Modelo de dados que representa a estrutura de dados de um BD conforme vista pelo usuário do SGBD.</a:t>
            </a:r>
          </a:p>
          <a:p>
            <a:pPr algn="ctr" eaLnBrk="1" hangingPunct="1">
              <a:buFontTx/>
              <a:buNone/>
            </a:pPr>
            <a:endParaRPr lang="pt-BR" altLang="pt-BR" sz="2400"/>
          </a:p>
          <a:p>
            <a:pPr algn="ctr" eaLnBrk="1" hangingPunct="1">
              <a:buFontTx/>
              <a:buNone/>
            </a:pPr>
            <a:endParaRPr lang="pt-BR" altLang="pt-BR" sz="2400"/>
          </a:p>
          <a:p>
            <a:pPr algn="ctr" eaLnBrk="1" hangingPunct="1">
              <a:buFontTx/>
              <a:buNone/>
            </a:pPr>
            <a:r>
              <a:rPr lang="pt-BR" altLang="pt-BR" sz="2400"/>
              <a:t>Depende do tipo de SGDB que está sendo usado.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543190E-EC8C-49E4-B4AF-8E549D53C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04850"/>
            <a:ext cx="8229600" cy="43815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pt-BR" sz="3200" b="1"/>
              <a:t>Modelo Lógico</a:t>
            </a:r>
            <a:endParaRPr lang="pt-BR" altLang="pt-BR" sz="3200" b="1"/>
          </a:p>
        </p:txBody>
      </p:sp>
      <p:pic>
        <p:nvPicPr>
          <p:cNvPr id="27651" name="Picture 4">
            <a:extLst>
              <a:ext uri="{FF2B5EF4-FFF2-40B4-BE49-F238E27FC236}">
                <a16:creationId xmlns:a16="http://schemas.microsoft.com/office/drawing/2014/main" id="{A9BF26A2-05B1-4FC5-BCE7-024573A8C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2" t="20625" r="53125" b="62500"/>
          <a:stretch>
            <a:fillRect/>
          </a:stretch>
        </p:blipFill>
        <p:spPr bwMode="auto">
          <a:xfrm>
            <a:off x="3167063" y="1785939"/>
            <a:ext cx="62865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1233E4D-5F3E-43F1-8BD1-46F31019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2401"/>
            <a:ext cx="8858250" cy="919163"/>
          </a:xfrm>
        </p:spPr>
        <p:txBody>
          <a:bodyPr/>
          <a:lstStyle/>
          <a:p>
            <a:pPr algn="ctr"/>
            <a:r>
              <a:rPr lang="en-US" altLang="pt-BR" sz="2400" b="1">
                <a:latin typeface="Verdana" panose="020B0604030504040204" pitchFamily="34" charset="0"/>
              </a:rPr>
              <a:t>Exemplo de tabelas de Banco de Dados Relacional</a:t>
            </a:r>
          </a:p>
        </p:txBody>
      </p:sp>
      <p:graphicFrame>
        <p:nvGraphicFramePr>
          <p:cNvPr id="21984" name="Group 480">
            <a:extLst>
              <a:ext uri="{FF2B5EF4-FFF2-40B4-BE49-F238E27FC236}">
                <a16:creationId xmlns:a16="http://schemas.microsoft.com/office/drawing/2014/main" id="{C5594AB5-69C2-4539-930D-256120E912CA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2135188" y="1989138"/>
          <a:ext cx="9055100" cy="2636838"/>
        </p:xfrm>
        <a:graphic>
          <a:graphicData uri="http://schemas.openxmlformats.org/drawingml/2006/table">
            <a:tbl>
              <a:tblPr/>
              <a:tblGrid>
                <a:gridCol w="1319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4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Produto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Prod_Cod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Prod_Descriçao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Prod_Preço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Tip_cod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PC desktop modelo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2.500,00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PC notebook ABC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3.500,00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Impressora jato de tinta 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500,00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Impressora laser XX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1.500,00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980" name="Group 476">
            <a:extLst>
              <a:ext uri="{FF2B5EF4-FFF2-40B4-BE49-F238E27FC236}">
                <a16:creationId xmlns:a16="http://schemas.microsoft.com/office/drawing/2014/main" id="{265076A9-E5D7-4B71-B367-471D1CF8E735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4440239" y="4797425"/>
          <a:ext cx="4391025" cy="1570038"/>
        </p:xfrm>
        <a:graphic>
          <a:graphicData uri="http://schemas.openxmlformats.org/drawingml/2006/table">
            <a:tbl>
              <a:tblPr/>
              <a:tblGrid>
                <a:gridCol w="219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9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TipoDeProduto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Tip_cod</a:t>
                      </a:r>
                    </a:p>
                  </a:txBody>
                  <a:tcPr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Tip_Descrição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Computador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marT="45729" marB="45729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Impressora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24" name="Rectangle 11">
            <a:extLst>
              <a:ext uri="{FF2B5EF4-FFF2-40B4-BE49-F238E27FC236}">
                <a16:creationId xmlns:a16="http://schemas.microsoft.com/office/drawing/2014/main" id="{3CE62F31-1BB6-404D-AFFE-3A68C7BE5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6" y="2492376"/>
            <a:ext cx="604837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1800">
              <a:latin typeface="Comic Sans MS" panose="030F0702030302020204" pitchFamily="66" charset="0"/>
            </a:endParaRPr>
          </a:p>
        </p:txBody>
      </p:sp>
      <p:sp>
        <p:nvSpPr>
          <p:cNvPr id="28725" name="Rectangle 147">
            <a:extLst>
              <a:ext uri="{FF2B5EF4-FFF2-40B4-BE49-F238E27FC236}">
                <a16:creationId xmlns:a16="http://schemas.microsoft.com/office/drawing/2014/main" id="{2395A544-E22B-4A6B-B636-6C1DAA60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1773238"/>
            <a:ext cx="5761038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1600">
              <a:latin typeface="Verdana" panose="020B0604030504040204" pitchFamily="34" charset="0"/>
            </a:endParaRPr>
          </a:p>
        </p:txBody>
      </p:sp>
      <p:sp>
        <p:nvSpPr>
          <p:cNvPr id="28726" name="Text Box 223">
            <a:extLst>
              <a:ext uri="{FF2B5EF4-FFF2-40B4-BE49-F238E27FC236}">
                <a16:creationId xmlns:a16="http://schemas.microsoft.com/office/drawing/2014/main" id="{F254D9F1-B543-44FE-9311-975135FB6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6813" y="3660776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1800">
              <a:solidFill>
                <a:srgbClr val="CC33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84CC294-9719-45D2-A9BE-AFCE0E10A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04850"/>
            <a:ext cx="8229600" cy="50958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pt-BR" sz="3200" b="1"/>
              <a:t>Modelo Lógico</a:t>
            </a:r>
            <a:endParaRPr lang="pt-BR" altLang="pt-BR" sz="3200" b="1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0603873-55BE-47DA-8D40-7D877FBE27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38314" y="1785938"/>
            <a:ext cx="8929687" cy="3657600"/>
          </a:xfrm>
        </p:spPr>
        <p:txBody>
          <a:bodyPr>
            <a:normAutofit lnSpcReduction="10000"/>
          </a:bodyPr>
          <a:lstStyle/>
          <a:p>
            <a:pPr indent="354013" algn="just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sz="2400" dirty="0"/>
              <a:t>Um modelo lógico de um BD relacional deve definir quais as tabelas que o BD contém e, para cada tabela, quais os nomes das colunas.</a:t>
            </a:r>
          </a:p>
          <a:p>
            <a:pPr marL="274320" indent="-27432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pt-BR" dirty="0"/>
          </a:p>
          <a:p>
            <a:pPr marL="274320" indent="-27432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sz="2400" dirty="0" err="1"/>
              <a:t>TipoDeProduto</a:t>
            </a:r>
            <a:r>
              <a:rPr lang="pt-BR" sz="2400" dirty="0"/>
              <a:t> (</a:t>
            </a:r>
            <a:r>
              <a:rPr lang="pt-BR" sz="2400" u="sng" dirty="0" err="1"/>
              <a:t>Tip_cod</a:t>
            </a:r>
            <a:r>
              <a:rPr lang="pt-BR" sz="2400" dirty="0"/>
              <a:t>, </a:t>
            </a:r>
            <a:r>
              <a:rPr lang="pt-BR" sz="2400" dirty="0" err="1"/>
              <a:t>Tip_Descrição</a:t>
            </a:r>
            <a:r>
              <a:rPr lang="pt-BR" sz="2400" dirty="0"/>
              <a:t>)</a:t>
            </a:r>
          </a:p>
          <a:p>
            <a:pPr marL="274320" indent="-27432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pt-BR" sz="2400" dirty="0"/>
          </a:p>
          <a:p>
            <a:pPr marL="274320" indent="-27432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sz="2400" dirty="0"/>
              <a:t>Produto (</a:t>
            </a:r>
            <a:r>
              <a:rPr lang="pt-BR" sz="2400" u="sng" dirty="0" err="1"/>
              <a:t>Prod_Cod</a:t>
            </a:r>
            <a:r>
              <a:rPr lang="pt-BR" sz="2400" dirty="0"/>
              <a:t>, </a:t>
            </a:r>
            <a:r>
              <a:rPr lang="pt-BR" sz="2400" dirty="0" err="1"/>
              <a:t>Prod_Descrição</a:t>
            </a:r>
            <a:r>
              <a:rPr lang="pt-BR" sz="2400" dirty="0"/>
              <a:t>, </a:t>
            </a:r>
            <a:r>
              <a:rPr lang="pt-BR" sz="2400" dirty="0" err="1"/>
              <a:t>Prod_Preço</a:t>
            </a:r>
            <a:r>
              <a:rPr lang="pt-BR" sz="2400" dirty="0"/>
              <a:t>, </a:t>
            </a:r>
            <a:r>
              <a:rPr lang="pt-BR" sz="2400" dirty="0" err="1"/>
              <a:t>Tip_cod</a:t>
            </a:r>
            <a:r>
              <a:rPr lang="pt-BR" sz="2400" dirty="0"/>
              <a:t>)</a:t>
            </a:r>
          </a:p>
          <a:p>
            <a:pPr marL="274320" indent="-27432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i="1" dirty="0" err="1"/>
              <a:t>Tip_cod</a:t>
            </a:r>
            <a:r>
              <a:rPr lang="en-US" i="1" dirty="0"/>
              <a:t> </a:t>
            </a:r>
            <a:r>
              <a:rPr lang="en-US" i="1" dirty="0" err="1"/>
              <a:t>referencia</a:t>
            </a:r>
            <a:r>
              <a:rPr lang="en-US" i="1" dirty="0"/>
              <a:t> </a:t>
            </a:r>
            <a:r>
              <a:rPr lang="en-US" i="1" dirty="0" err="1"/>
              <a:t>tipodeproduto</a:t>
            </a:r>
            <a:endParaRPr lang="pt-BR" i="1" dirty="0"/>
          </a:p>
          <a:p>
            <a:pPr marL="274320" indent="-27432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sz="2400" dirty="0"/>
              <a:t>                </a:t>
            </a:r>
          </a:p>
          <a:p>
            <a:pPr marL="274320" indent="-27432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sz="2400" dirty="0"/>
              <a:t>            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58D61CA-FEE5-4E30-8FCF-B5BDB1BA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1" y="152401"/>
            <a:ext cx="7815263" cy="919163"/>
          </a:xfrm>
        </p:spPr>
        <p:txBody>
          <a:bodyPr/>
          <a:lstStyle/>
          <a:p>
            <a:pPr algn="ctr" eaLnBrk="1" hangingPunct="1"/>
            <a:r>
              <a:rPr lang="en-US" altLang="pt-BR" sz="3200" b="1"/>
              <a:t>Modelo Físico</a:t>
            </a: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1C17D9A3-CCD6-47AD-B07F-48DEF9B95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1643063"/>
            <a:ext cx="6357938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8B46142-4193-43CA-8A97-6977C8091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189" y="152400"/>
            <a:ext cx="8358187" cy="973138"/>
          </a:xfrm>
        </p:spPr>
        <p:txBody>
          <a:bodyPr/>
          <a:lstStyle/>
          <a:p>
            <a:pPr algn="ctr" eaLnBrk="1" hangingPunct="1"/>
            <a:r>
              <a:rPr lang="en-US" altLang="pt-BR" sz="3200" b="1"/>
              <a:t>Projeto de Banco de Dados</a:t>
            </a:r>
            <a:endParaRPr lang="pt-BR" altLang="pt-BR" sz="3200" b="1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E1B2A09A-F563-4849-BD90-059D2FAB18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95500" y="1657350"/>
            <a:ext cx="7696200" cy="5200650"/>
          </a:xfrm>
        </p:spPr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dirty="0"/>
              <a:t>Fases:</a:t>
            </a:r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pt-BR" dirty="0"/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dirty="0"/>
              <a:t>1)   Modelagem Conceitual</a:t>
            </a:r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dirty="0"/>
              <a:t>     Criação do Modelo Conceitual (DER);</a:t>
            </a:r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pt-BR" dirty="0"/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dirty="0"/>
              <a:t>2) Projeto lógico</a:t>
            </a:r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dirty="0"/>
              <a:t>     Transformação do modelo conceitual para o lógico;</a:t>
            </a:r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pt-BR" dirty="0"/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dirty="0"/>
              <a:t>3) Projeto físico</a:t>
            </a:r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pt-BR" dirty="0"/>
              <a:t>     </a:t>
            </a:r>
            <a:r>
              <a:rPr lang="en-US" dirty="0"/>
              <a:t>   </a:t>
            </a:r>
            <a:r>
              <a:rPr lang="en-US" dirty="0" err="1"/>
              <a:t>Cria</a:t>
            </a:r>
            <a:r>
              <a:rPr lang="en-US" dirty="0"/>
              <a:t>-se o </a:t>
            </a:r>
            <a:r>
              <a:rPr lang="en-US" dirty="0" err="1"/>
              <a:t>esquema</a:t>
            </a:r>
            <a:r>
              <a:rPr lang="en-US" dirty="0"/>
              <a:t> do </a:t>
            </a:r>
            <a:r>
              <a:rPr lang="en-US" dirty="0" err="1"/>
              <a:t>Banco</a:t>
            </a:r>
            <a:r>
              <a:rPr lang="en-US" dirty="0"/>
              <a:t> de Dados,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meio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DDL –</a:t>
            </a:r>
            <a:r>
              <a:rPr lang="en-US" dirty="0" err="1"/>
              <a:t>Linguagem</a:t>
            </a:r>
            <a:r>
              <a:rPr lang="en-US" dirty="0"/>
              <a:t> de </a:t>
            </a:r>
            <a:r>
              <a:rPr lang="en-US" dirty="0" err="1"/>
              <a:t>Definição</a:t>
            </a:r>
            <a:r>
              <a:rPr lang="en-US" dirty="0"/>
              <a:t> de Dados e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manipulação</a:t>
            </a:r>
            <a:r>
              <a:rPr lang="en-US" dirty="0"/>
              <a:t> de dados </a:t>
            </a:r>
            <a:r>
              <a:rPr lang="en-US" dirty="0" err="1"/>
              <a:t>utiliza</a:t>
            </a:r>
            <a:r>
              <a:rPr lang="en-US" dirty="0"/>
              <a:t>-se a DML- </a:t>
            </a:r>
            <a:r>
              <a:rPr lang="en-US" dirty="0" err="1"/>
              <a:t>Linguagem</a:t>
            </a:r>
            <a:r>
              <a:rPr lang="en-US" dirty="0"/>
              <a:t> de </a:t>
            </a:r>
            <a:r>
              <a:rPr lang="en-US" dirty="0" err="1"/>
              <a:t>Manipulação</a:t>
            </a:r>
            <a:r>
              <a:rPr lang="en-US" dirty="0"/>
              <a:t> dos Dados.</a:t>
            </a:r>
          </a:p>
          <a:p>
            <a:pPr marL="609600" indent="-609600" algn="just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dirty="0"/>
          </a:p>
          <a:p>
            <a:pPr marL="609600" indent="-609600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8920F51-81C5-4D1D-AC8E-97E0D8C0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01" y="692150"/>
            <a:ext cx="8532813" cy="725488"/>
          </a:xfrm>
        </p:spPr>
        <p:txBody>
          <a:bodyPr/>
          <a:lstStyle/>
          <a:p>
            <a:pPr eaLnBrk="1" hangingPunct="1"/>
            <a:r>
              <a:rPr lang="pt-BR" altLang="pt-BR" sz="2200"/>
              <a:t>Linguagens de definição e manipulação de dados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F59C027-17B3-49D7-B735-DE442674B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6775" y="1600200"/>
            <a:ext cx="8153400" cy="4495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spcAft>
                <a:spcPct val="40000"/>
              </a:spcAft>
              <a:buFont typeface="Wingdings" panose="05000000000000000000" pitchFamily="2" charset="2"/>
              <a:buNone/>
            </a:pPr>
            <a:r>
              <a:rPr lang="en-US" altLang="pt-BR" b="1"/>
              <a:t>Linguagem de Definição de Dados (DDL)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pt-BR"/>
              <a:t>	Permite especificar o esquema do banco de dados, através de um conjunto de definição de dados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pt-BR"/>
          </a:p>
          <a:p>
            <a:pPr lvl="1" eaLnBrk="1" hangingPunct="1">
              <a:lnSpc>
                <a:spcPct val="90000"/>
              </a:lnSpc>
            </a:pPr>
            <a:r>
              <a:rPr lang="en-US" altLang="pt-BR"/>
              <a:t>O resultado da compilação de instruções DDL é a definição de um conjunto de tabelas que são armazenadas no </a:t>
            </a:r>
            <a:r>
              <a:rPr lang="en-US" altLang="pt-BR" u="sng"/>
              <a:t>Dicionário de Dados</a:t>
            </a:r>
            <a:r>
              <a:rPr lang="en-US" altLang="pt-BR"/>
              <a:t>.</a:t>
            </a:r>
          </a:p>
          <a:p>
            <a:pPr lvl="1" eaLnBrk="1" hangingPunct="1">
              <a:lnSpc>
                <a:spcPct val="90000"/>
              </a:lnSpc>
            </a:pPr>
            <a:endParaRPr lang="en-US" altLang="pt-BR"/>
          </a:p>
          <a:p>
            <a:pPr lvl="1" eaLnBrk="1" hangingPunct="1">
              <a:lnSpc>
                <a:spcPct val="90000"/>
              </a:lnSpc>
            </a:pPr>
            <a:r>
              <a:rPr lang="en-US" altLang="pt-BR"/>
              <a:t>Exemplo: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pt-BR"/>
              <a:t>CREATE TABLE PRODUTO(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pt-BR"/>
              <a:t>pro_cod number PRIMARY KEY,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pt-BR"/>
              <a:t>pro_descricao varchar(2),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pt-BR"/>
              <a:t>pro_preco number(6,2),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pt-BR"/>
              <a:t>tip_codigo number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pt-BR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>
            <a:extLst>
              <a:ext uri="{FF2B5EF4-FFF2-40B4-BE49-F238E27FC236}">
                <a16:creationId xmlns:a16="http://schemas.microsoft.com/office/drawing/2014/main" id="{D6EB7578-79C7-4685-BE58-AE8416C82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01" y="692150"/>
            <a:ext cx="8532813" cy="725488"/>
          </a:xfrm>
          <a:noFill/>
        </p:spPr>
        <p:txBody>
          <a:bodyPr/>
          <a:lstStyle/>
          <a:p>
            <a:pPr eaLnBrk="1" hangingPunct="1"/>
            <a:r>
              <a:rPr lang="pt-BR" altLang="pt-BR" sz="2200"/>
              <a:t>Linguagens de definição e manipulação de dados (cont...)</a:t>
            </a:r>
          </a:p>
        </p:txBody>
      </p:sp>
      <p:sp>
        <p:nvSpPr>
          <p:cNvPr id="33795" name="Rectangle 5">
            <a:extLst>
              <a:ext uri="{FF2B5EF4-FFF2-40B4-BE49-F238E27FC236}">
                <a16:creationId xmlns:a16="http://schemas.microsoft.com/office/drawing/2014/main" id="{3AA31031-0FD9-4A8B-AE7E-53C2A529C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1574800"/>
            <a:ext cx="8229600" cy="5068888"/>
          </a:xfrm>
          <a:noFill/>
        </p:spPr>
        <p:txBody>
          <a:bodyPr/>
          <a:lstStyle/>
          <a:p>
            <a:pPr eaLnBrk="1" hangingPunct="1">
              <a:spcAft>
                <a:spcPct val="40000"/>
              </a:spcAft>
              <a:buFont typeface="Wingdings" panose="05000000000000000000" pitchFamily="2" charset="2"/>
              <a:buNone/>
            </a:pPr>
            <a:r>
              <a:rPr lang="en-US" altLang="pt-BR" b="1"/>
              <a:t>Linguagem de Manipulação de Dados (DML)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pt-BR"/>
              <a:t>	Permite ao usuário acessar ou manipular os dados. </a:t>
            </a:r>
          </a:p>
          <a:p>
            <a:pPr eaLnBrk="1" hangingPunct="1"/>
            <a:endParaRPr lang="en-US" altLang="pt-BR"/>
          </a:p>
          <a:p>
            <a:pPr lvl="1" eaLnBrk="1" hangingPunct="1"/>
            <a:r>
              <a:rPr lang="en-US" altLang="pt-BR"/>
              <a:t>Uma consulta (query) é um comando que requisita alguma informação.</a:t>
            </a:r>
          </a:p>
          <a:p>
            <a:pPr lvl="1" eaLnBrk="1" hangingPunct="1"/>
            <a:r>
              <a:rPr lang="en-US" altLang="pt-BR"/>
              <a:t>Possibilita inserção e remoção de dados.</a:t>
            </a:r>
          </a:p>
          <a:p>
            <a:pPr lvl="1" eaLnBrk="1" hangingPunct="1"/>
            <a:endParaRPr lang="en-US" altLang="pt-BR"/>
          </a:p>
          <a:p>
            <a:pPr lvl="1" eaLnBrk="1" hangingPunct="1"/>
            <a:r>
              <a:rPr lang="en-US" altLang="pt-BR"/>
              <a:t>Exemplo:</a:t>
            </a:r>
          </a:p>
          <a:p>
            <a:pPr lvl="1" eaLnBrk="1" hangingPunct="1"/>
            <a:endParaRPr lang="en-US" altLang="pt-BR"/>
          </a:p>
          <a:p>
            <a:pPr lvl="2" eaLnBrk="1" hangingPunct="1">
              <a:buFontTx/>
              <a:buNone/>
            </a:pPr>
            <a:r>
              <a:rPr lang="pt-BR" altLang="pt-BR">
                <a:solidFill>
                  <a:srgbClr val="003399"/>
                </a:solidFill>
              </a:rPr>
              <a:t>SELECT</a:t>
            </a:r>
            <a:r>
              <a:rPr lang="pt-BR" altLang="pt-BR"/>
              <a:t> PRO_DESCRICAO</a:t>
            </a:r>
          </a:p>
          <a:p>
            <a:pPr lvl="2" eaLnBrk="1" hangingPunct="1">
              <a:buFontTx/>
              <a:buNone/>
            </a:pPr>
            <a:r>
              <a:rPr lang="pt-BR" altLang="pt-BR">
                <a:solidFill>
                  <a:srgbClr val="003399"/>
                </a:solidFill>
              </a:rPr>
              <a:t>FROM</a:t>
            </a:r>
            <a:r>
              <a:rPr lang="pt-BR" altLang="pt-BR"/>
              <a:t> PRODUTO</a:t>
            </a:r>
          </a:p>
          <a:p>
            <a:pPr lvl="2" eaLnBrk="1" hangingPunct="1">
              <a:buFontTx/>
              <a:buNone/>
            </a:pPr>
            <a:r>
              <a:rPr lang="en-US" altLang="pt-BR">
                <a:solidFill>
                  <a:srgbClr val="003399"/>
                </a:solidFill>
              </a:rPr>
              <a:t>WHERE</a:t>
            </a:r>
            <a:r>
              <a:rPr lang="en-US" altLang="pt-BR"/>
              <a:t> PRO_COD= 10</a:t>
            </a:r>
            <a:endParaRPr lang="pt-BR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0EF1AD97652B4DADC1D5AA481132CA" ma:contentTypeVersion="10" ma:contentTypeDescription="Crie um novo documento." ma:contentTypeScope="" ma:versionID="953ce21c48e854849c260d00a6afc90e">
  <xsd:schema xmlns:xsd="http://www.w3.org/2001/XMLSchema" xmlns:xs="http://www.w3.org/2001/XMLSchema" xmlns:p="http://schemas.microsoft.com/office/2006/metadata/properties" xmlns:ns2="0617cc73-3dc8-4c34-b1f6-14a34af8b1a8" xmlns:ns3="adaa9592-3624-4b81-adae-371221e6c671" targetNamespace="http://schemas.microsoft.com/office/2006/metadata/properties" ma:root="true" ma:fieldsID="9ee091e37966f7e1ef21554485bfa31d" ns2:_="" ns3:_="">
    <xsd:import namespace="0617cc73-3dc8-4c34-b1f6-14a34af8b1a8"/>
    <xsd:import namespace="adaa9592-3624-4b81-adae-371221e6c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cc73-3dc8-4c34-b1f6-14a34af8b1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aa9592-3624-4b81-adae-371221e6c6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3e00fb-46f0-465e-be18-ab74300d1d8d}" ma:internalName="TaxCatchAll" ma:showField="CatchAllData" ma:web="adaa9592-3624-4b81-adae-371221e6c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17cc73-3dc8-4c34-b1f6-14a34af8b1a8">
      <Terms xmlns="http://schemas.microsoft.com/office/infopath/2007/PartnerControls"/>
    </lcf76f155ced4ddcb4097134ff3c332f>
    <TaxCatchAll xmlns="adaa9592-3624-4b81-adae-371221e6c67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9865C6-EA7D-4407-8F72-10C34E8AA9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17cc73-3dc8-4c34-b1f6-14a34af8b1a8"/>
    <ds:schemaRef ds:uri="adaa9592-3624-4b81-adae-371221e6c6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0230F9-8BFE-4A99-8DC7-B2322BDB85B5}">
  <ds:schemaRefs>
    <ds:schemaRef ds:uri="http://schemas.microsoft.com/office/2006/metadata/properties"/>
    <ds:schemaRef ds:uri="http://schemas.microsoft.com/office/infopath/2007/PartnerControls"/>
    <ds:schemaRef ds:uri="0617cc73-3dc8-4c34-b1f6-14a34af8b1a8"/>
    <ds:schemaRef ds:uri="adaa9592-3624-4b81-adae-371221e6c671"/>
  </ds:schemaRefs>
</ds:datastoreItem>
</file>

<file path=customXml/itemProps3.xml><?xml version="1.0" encoding="utf-8"?>
<ds:datastoreItem xmlns:ds="http://schemas.openxmlformats.org/officeDocument/2006/customXml" ds:itemID="{2B792D22-AE51-45C8-AFA0-D5CE673DD5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TM10001105[[fn=Corte]]</Template>
  <TotalTime>2150</TotalTime>
  <Words>1525</Words>
  <Application>Microsoft Office PowerPoint</Application>
  <PresentationFormat>Widescreen</PresentationFormat>
  <Paragraphs>205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Calibri</vt:lpstr>
      <vt:lpstr>Comic Sans MS</vt:lpstr>
      <vt:lpstr>Franklin Gothic Book</vt:lpstr>
      <vt:lpstr>Verdana</vt:lpstr>
      <vt:lpstr>Wingdings</vt:lpstr>
      <vt:lpstr>Cortar</vt:lpstr>
      <vt:lpstr>Banco de dados </vt:lpstr>
      <vt:lpstr>O que é Banco de Dados?</vt:lpstr>
      <vt:lpstr>Qual a diferencia entre Dados, informação e conhecimento?  </vt:lpstr>
      <vt:lpstr>Sistema Gerenciador de dados (SGDB)</vt:lpstr>
      <vt:lpstr>Modelos de Banco de dados</vt:lpstr>
      <vt:lpstr>Modelo Conceitual</vt:lpstr>
      <vt:lpstr>Modelo Conceitual</vt:lpstr>
      <vt:lpstr>Entidade</vt:lpstr>
      <vt:lpstr>Entidades</vt:lpstr>
      <vt:lpstr>Atributos</vt:lpstr>
      <vt:lpstr>Atributos</vt:lpstr>
      <vt:lpstr>Atributos</vt:lpstr>
      <vt:lpstr>Relacionamentos</vt:lpstr>
      <vt:lpstr>Tipos de Relacionamentos</vt:lpstr>
      <vt:lpstr>Tipos de Relacionamentos</vt:lpstr>
      <vt:lpstr>Tipos de Relacionamentos</vt:lpstr>
      <vt:lpstr>Exemplos</vt:lpstr>
      <vt:lpstr>Resolução</vt:lpstr>
      <vt:lpstr>Apresentação do PowerPoint</vt:lpstr>
      <vt:lpstr>Apresentação do PowerPoint</vt:lpstr>
      <vt:lpstr>Apresentação do PowerPoint</vt:lpstr>
      <vt:lpstr>Mapeamento </vt:lpstr>
      <vt:lpstr>Apresentação do PowerPoint</vt:lpstr>
      <vt:lpstr>Apresentação do PowerPoint</vt:lpstr>
      <vt:lpstr>Apresentação do PowerPoint</vt:lpstr>
      <vt:lpstr>Modelo Lógico</vt:lpstr>
      <vt:lpstr>Modelo Lógico</vt:lpstr>
      <vt:lpstr>Exemplo de tabelas de Banco de Dados Relacional</vt:lpstr>
      <vt:lpstr>Modelo Lógico</vt:lpstr>
      <vt:lpstr>Modelo Físico</vt:lpstr>
      <vt:lpstr>Projeto de Banco de Dados</vt:lpstr>
      <vt:lpstr>Linguagens de definição e manipulação de dados</vt:lpstr>
      <vt:lpstr>Linguagens de definição e manipulação de dados (cont...)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Agenda 09</dc:title>
  <dc:creator>CLAUDIO ETELVINO DE LIMA</dc:creator>
  <cp:lastModifiedBy>CLAUDIO ETELVINO DE LIMA</cp:lastModifiedBy>
  <cp:revision>56</cp:revision>
  <dcterms:created xsi:type="dcterms:W3CDTF">2020-05-06T14:39:13Z</dcterms:created>
  <dcterms:modified xsi:type="dcterms:W3CDTF">2026-02-19T11:20:27Z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0x010100DE0EF1AD97652B4DADC1D5AA481132CA</vt:lpwstr>
  </property>
  <property fmtid="{D5CDD505-2E9C-101B-9397-08002B2CF9AE}" pid="3" name="MediaServiceImageTags">
    <vt:lpwstr/>
  </property>
</Properties>
</file>