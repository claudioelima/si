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67" r:id="rId4"/>
    <p:sldId id="256" r:id="rId5"/>
    <p:sldId id="268" r:id="rId6"/>
    <p:sldId id="269" r:id="rId7"/>
    <p:sldId id="257" r:id="rId8"/>
    <p:sldId id="258" r:id="rId9"/>
    <p:sldId id="259" r:id="rId10"/>
    <p:sldId id="260" r:id="rId11"/>
    <p:sldId id="261" r:id="rId12"/>
    <p:sldId id="27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20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8982B-0AC9-4A64-AA3C-D78FC22A9E4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B044B07-E397-45E6-82C1-1EDD93912CB4}">
      <dgm:prSet/>
      <dgm:spPr/>
      <dgm:t>
        <a:bodyPr/>
        <a:lstStyle/>
        <a:p>
          <a:pPr>
            <a:defRPr b="1"/>
          </a:pPr>
          <a:r>
            <a:rPr lang="pt-BR" b="1"/>
            <a:t>Product Backlog</a:t>
          </a:r>
          <a:endParaRPr lang="en-US"/>
        </a:p>
      </dgm:t>
    </dgm:pt>
    <dgm:pt modelId="{DA060896-4C82-4DB8-A640-30FC862206B2}" type="parTrans" cxnId="{C4715AF9-717F-4414-B3DD-B0A97F62C169}">
      <dgm:prSet/>
      <dgm:spPr/>
      <dgm:t>
        <a:bodyPr/>
        <a:lstStyle/>
        <a:p>
          <a:endParaRPr lang="en-US"/>
        </a:p>
      </dgm:t>
    </dgm:pt>
    <dgm:pt modelId="{B69B3226-EEF9-4139-BDB9-A356FFB516A0}" type="sibTrans" cxnId="{C4715AF9-717F-4414-B3DD-B0A97F62C169}">
      <dgm:prSet/>
      <dgm:spPr/>
      <dgm:t>
        <a:bodyPr/>
        <a:lstStyle/>
        <a:p>
          <a:endParaRPr lang="en-US"/>
        </a:p>
      </dgm:t>
    </dgm:pt>
    <dgm:pt modelId="{DD26210B-CED5-4191-AF0F-9AA0CA44A32C}">
      <dgm:prSet/>
      <dgm:spPr/>
      <dgm:t>
        <a:bodyPr/>
        <a:lstStyle/>
        <a:p>
          <a:pPr algn="just"/>
          <a:r>
            <a:rPr lang="pt-BR" dirty="0"/>
            <a:t>É todo requerimento que existe e que ainda não foi desenvolvido e deve está dentro do backlog. É a lista de funcionalidade, por prioridades.</a:t>
          </a:r>
          <a:endParaRPr lang="en-US" dirty="0"/>
        </a:p>
      </dgm:t>
    </dgm:pt>
    <dgm:pt modelId="{8B953D86-955C-4A61-9DBF-2B0B48071C67}" type="parTrans" cxnId="{0F5FCD9E-C307-424C-BE95-E46EF5F55C76}">
      <dgm:prSet/>
      <dgm:spPr/>
      <dgm:t>
        <a:bodyPr/>
        <a:lstStyle/>
        <a:p>
          <a:endParaRPr lang="en-US"/>
        </a:p>
      </dgm:t>
    </dgm:pt>
    <dgm:pt modelId="{EFDC39DA-9931-4ED7-B6A9-0B12B180D1C0}" type="sibTrans" cxnId="{0F5FCD9E-C307-424C-BE95-E46EF5F55C76}">
      <dgm:prSet/>
      <dgm:spPr/>
      <dgm:t>
        <a:bodyPr/>
        <a:lstStyle/>
        <a:p>
          <a:endParaRPr lang="en-US"/>
        </a:p>
      </dgm:t>
    </dgm:pt>
    <dgm:pt modelId="{C9BDB832-2859-4BB0-95C6-0688AAB3FDF7}">
      <dgm:prSet/>
      <dgm:spPr/>
      <dgm:t>
        <a:bodyPr/>
        <a:lstStyle/>
        <a:p>
          <a:pPr algn="just"/>
          <a:r>
            <a:rPr lang="pt-BR" dirty="0"/>
            <a:t>O </a:t>
          </a:r>
          <a:r>
            <a:rPr lang="pt-BR" dirty="0" err="1"/>
            <a:t>product</a:t>
          </a:r>
          <a:r>
            <a:rPr lang="pt-BR" dirty="0"/>
            <a:t> backlog tem que ser uma única fonte, não deve existe outra fonte e nunca deve ter mais de uma fonte. O </a:t>
          </a:r>
          <a:r>
            <a:rPr lang="pt-BR" i="1" dirty="0" err="1"/>
            <a:t>product</a:t>
          </a:r>
          <a:r>
            <a:rPr lang="pt-BR" i="1" dirty="0"/>
            <a:t> backlog </a:t>
          </a:r>
          <a:r>
            <a:rPr lang="pt-BR" dirty="0"/>
            <a:t>é a única fonte de requerimento e necessidade de caso de uso do produto que deve existir. </a:t>
          </a:r>
          <a:endParaRPr lang="en-US" dirty="0"/>
        </a:p>
      </dgm:t>
    </dgm:pt>
    <dgm:pt modelId="{E32BF708-AACC-40E8-A747-8CC3C74C6AD7}" type="parTrans" cxnId="{9D7CE698-582F-42B0-A4F2-E0C634D6302C}">
      <dgm:prSet/>
      <dgm:spPr/>
      <dgm:t>
        <a:bodyPr/>
        <a:lstStyle/>
        <a:p>
          <a:endParaRPr lang="en-US"/>
        </a:p>
      </dgm:t>
    </dgm:pt>
    <dgm:pt modelId="{3CD9BDF2-4A73-4FCA-9AF9-7680EC610CB5}" type="sibTrans" cxnId="{9D7CE698-582F-42B0-A4F2-E0C634D6302C}">
      <dgm:prSet/>
      <dgm:spPr/>
      <dgm:t>
        <a:bodyPr/>
        <a:lstStyle/>
        <a:p>
          <a:endParaRPr lang="en-US"/>
        </a:p>
      </dgm:t>
    </dgm:pt>
    <dgm:pt modelId="{E5E1348B-3DF0-41A0-B748-41F2C7DA2AD4}">
      <dgm:prSet/>
      <dgm:spPr/>
      <dgm:t>
        <a:bodyPr/>
        <a:lstStyle/>
        <a:p>
          <a:pPr>
            <a:defRPr b="1"/>
          </a:pPr>
          <a:r>
            <a:rPr lang="pt-BR" b="1" dirty="0"/>
            <a:t>Sprint Backlog</a:t>
          </a:r>
          <a:endParaRPr lang="en-US" dirty="0"/>
        </a:p>
      </dgm:t>
    </dgm:pt>
    <dgm:pt modelId="{399A2C15-BF44-4C92-9387-24FD04D18B9C}" type="parTrans" cxnId="{A7CD61AE-ADB8-47BA-A8D5-048C0F30701F}">
      <dgm:prSet/>
      <dgm:spPr/>
      <dgm:t>
        <a:bodyPr/>
        <a:lstStyle/>
        <a:p>
          <a:endParaRPr lang="en-US"/>
        </a:p>
      </dgm:t>
    </dgm:pt>
    <dgm:pt modelId="{1A7CC521-2DD0-4FB8-9D2E-DDD6263F4D1D}" type="sibTrans" cxnId="{A7CD61AE-ADB8-47BA-A8D5-048C0F30701F}">
      <dgm:prSet/>
      <dgm:spPr/>
      <dgm:t>
        <a:bodyPr/>
        <a:lstStyle/>
        <a:p>
          <a:endParaRPr lang="en-US"/>
        </a:p>
      </dgm:t>
    </dgm:pt>
    <dgm:pt modelId="{52BA53DA-5074-4F28-8100-0A90F5E764B2}">
      <dgm:prSet/>
      <dgm:spPr/>
      <dgm:t>
        <a:bodyPr/>
        <a:lstStyle/>
        <a:p>
          <a:pPr algn="just"/>
          <a:r>
            <a:rPr lang="pt-BR" dirty="0"/>
            <a:t>É todo requerimento, todas as estórias que o time trouxe par a sprint para desenvolver naquele período de tempo.</a:t>
          </a:r>
        </a:p>
        <a:p>
          <a:pPr algn="just"/>
          <a:endParaRPr lang="pt-BR" dirty="0"/>
        </a:p>
        <a:p>
          <a:pPr algn="just"/>
          <a:endParaRPr lang="en-US" dirty="0"/>
        </a:p>
      </dgm:t>
    </dgm:pt>
    <dgm:pt modelId="{9EC7DC08-B729-4BE8-8076-EEC644EE22B5}" type="parTrans" cxnId="{99CE7882-00E0-4E98-B379-64F5D2F300EF}">
      <dgm:prSet/>
      <dgm:spPr/>
      <dgm:t>
        <a:bodyPr/>
        <a:lstStyle/>
        <a:p>
          <a:endParaRPr lang="en-US"/>
        </a:p>
      </dgm:t>
    </dgm:pt>
    <dgm:pt modelId="{C5BD3AFF-AC9B-47EA-B8E0-4E2D760318C0}" type="sibTrans" cxnId="{99CE7882-00E0-4E98-B379-64F5D2F300EF}">
      <dgm:prSet/>
      <dgm:spPr/>
      <dgm:t>
        <a:bodyPr/>
        <a:lstStyle/>
        <a:p>
          <a:endParaRPr lang="en-US"/>
        </a:p>
      </dgm:t>
    </dgm:pt>
    <dgm:pt modelId="{5AB41B14-1A98-493A-95F1-F35CF362A7C4}">
      <dgm:prSet/>
      <dgm:spPr/>
      <dgm:t>
        <a:bodyPr/>
        <a:lstStyle/>
        <a:p>
          <a:pPr>
            <a:defRPr b="1"/>
          </a:pPr>
          <a:r>
            <a:rPr lang="pt-BR" b="1" dirty="0" err="1"/>
            <a:t>Increment</a:t>
          </a:r>
          <a:endParaRPr lang="en-US" dirty="0"/>
        </a:p>
      </dgm:t>
    </dgm:pt>
    <dgm:pt modelId="{14B1AD7B-F6A8-452E-93D5-3609C926743F}" type="parTrans" cxnId="{6B9E61AB-20F5-4C52-8D41-F865644893D5}">
      <dgm:prSet/>
      <dgm:spPr/>
      <dgm:t>
        <a:bodyPr/>
        <a:lstStyle/>
        <a:p>
          <a:endParaRPr lang="en-US"/>
        </a:p>
      </dgm:t>
    </dgm:pt>
    <dgm:pt modelId="{6E24446F-3730-46BA-A8D7-046607B6BD76}" type="sibTrans" cxnId="{6B9E61AB-20F5-4C52-8D41-F865644893D5}">
      <dgm:prSet/>
      <dgm:spPr/>
      <dgm:t>
        <a:bodyPr/>
        <a:lstStyle/>
        <a:p>
          <a:endParaRPr lang="en-US"/>
        </a:p>
      </dgm:t>
    </dgm:pt>
    <dgm:pt modelId="{3084DE12-F9FA-46CA-AA3F-DD75CA135CD3}">
      <dgm:prSet/>
      <dgm:spPr/>
      <dgm:t>
        <a:bodyPr/>
        <a:lstStyle/>
        <a:p>
          <a:pPr algn="just"/>
          <a:r>
            <a:rPr lang="pt-BR" dirty="0"/>
            <a:t>É o resultado de um período que o time trabalhou para desenvolver aquele produto, aquela estória que foram puxadas para tem determinado período.</a:t>
          </a:r>
          <a:endParaRPr lang="en-US" dirty="0"/>
        </a:p>
      </dgm:t>
    </dgm:pt>
    <dgm:pt modelId="{5DCBA7B6-A2AF-4CD4-AAD6-540030E57365}" type="parTrans" cxnId="{9AE4B9CA-67D6-4C3E-A187-D9491D9BBBF9}">
      <dgm:prSet/>
      <dgm:spPr/>
      <dgm:t>
        <a:bodyPr/>
        <a:lstStyle/>
        <a:p>
          <a:endParaRPr lang="en-US"/>
        </a:p>
      </dgm:t>
    </dgm:pt>
    <dgm:pt modelId="{CD10D79D-7BCB-4546-9446-98F7DE056F7F}" type="sibTrans" cxnId="{9AE4B9CA-67D6-4C3E-A187-D9491D9BBBF9}">
      <dgm:prSet/>
      <dgm:spPr/>
      <dgm:t>
        <a:bodyPr/>
        <a:lstStyle/>
        <a:p>
          <a:endParaRPr lang="en-US"/>
        </a:p>
      </dgm:t>
    </dgm:pt>
    <dgm:pt modelId="{D68DF8CA-33DA-4F69-A4FB-61FF613FBDD5}">
      <dgm:prSet/>
      <dgm:spPr/>
      <dgm:t>
        <a:bodyPr/>
        <a:lstStyle/>
        <a:p>
          <a:pPr algn="just"/>
          <a:r>
            <a:rPr lang="pt-BR" dirty="0"/>
            <a:t>O incremento é o resultado final integrado com todos as outras entregas anteriores.  </a:t>
          </a:r>
          <a:endParaRPr lang="en-US" dirty="0"/>
        </a:p>
      </dgm:t>
    </dgm:pt>
    <dgm:pt modelId="{74216F9E-F117-4D46-A2C6-883386113FA7}" type="parTrans" cxnId="{81D9CF73-0FF6-413A-8608-B6D8E698BA71}">
      <dgm:prSet/>
      <dgm:spPr/>
      <dgm:t>
        <a:bodyPr/>
        <a:lstStyle/>
        <a:p>
          <a:endParaRPr lang="en-US"/>
        </a:p>
      </dgm:t>
    </dgm:pt>
    <dgm:pt modelId="{590FFD2C-C130-42F8-AE0D-E65049E7F0C8}" type="sibTrans" cxnId="{81D9CF73-0FF6-413A-8608-B6D8E698BA71}">
      <dgm:prSet/>
      <dgm:spPr/>
      <dgm:t>
        <a:bodyPr/>
        <a:lstStyle/>
        <a:p>
          <a:endParaRPr lang="en-US"/>
        </a:p>
      </dgm:t>
    </dgm:pt>
    <dgm:pt modelId="{26CB17C7-0710-40E2-919C-8C58BBB20FA3}" type="pres">
      <dgm:prSet presAssocID="{D098982B-0AC9-4A64-AA3C-D78FC22A9E46}" presName="root" presStyleCnt="0">
        <dgm:presLayoutVars>
          <dgm:dir/>
          <dgm:resizeHandles val="exact"/>
        </dgm:presLayoutVars>
      </dgm:prSet>
      <dgm:spPr/>
    </dgm:pt>
    <dgm:pt modelId="{69CADC6C-5884-4313-85B8-B78F37C8FA04}" type="pres">
      <dgm:prSet presAssocID="{AB044B07-E397-45E6-82C1-1EDD93912CB4}" presName="compNode" presStyleCnt="0"/>
      <dgm:spPr/>
    </dgm:pt>
    <dgm:pt modelId="{0B142F54-93DB-41BD-876E-6E3CE6F5D93E}" type="pres">
      <dgm:prSet presAssocID="{AB044B07-E397-45E6-82C1-1EDD93912C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2F8977D-B9AD-419A-9162-100B9303E044}" type="pres">
      <dgm:prSet presAssocID="{AB044B07-E397-45E6-82C1-1EDD93912CB4}" presName="iconSpace" presStyleCnt="0"/>
      <dgm:spPr/>
    </dgm:pt>
    <dgm:pt modelId="{2E54ECFF-4738-483A-A19A-D4353862ECC4}" type="pres">
      <dgm:prSet presAssocID="{AB044B07-E397-45E6-82C1-1EDD93912CB4}" presName="parTx" presStyleLbl="revTx" presStyleIdx="0" presStyleCnt="6">
        <dgm:presLayoutVars>
          <dgm:chMax val="0"/>
          <dgm:chPref val="0"/>
        </dgm:presLayoutVars>
      </dgm:prSet>
      <dgm:spPr/>
    </dgm:pt>
    <dgm:pt modelId="{A750D02A-B22C-40BC-B47D-B5A078CDEA92}" type="pres">
      <dgm:prSet presAssocID="{AB044B07-E397-45E6-82C1-1EDD93912CB4}" presName="txSpace" presStyleCnt="0"/>
      <dgm:spPr/>
    </dgm:pt>
    <dgm:pt modelId="{F9BFE567-AB5F-4316-AA29-999DB5C5FB69}" type="pres">
      <dgm:prSet presAssocID="{AB044B07-E397-45E6-82C1-1EDD93912CB4}" presName="desTx" presStyleLbl="revTx" presStyleIdx="1" presStyleCnt="6">
        <dgm:presLayoutVars/>
      </dgm:prSet>
      <dgm:spPr/>
    </dgm:pt>
    <dgm:pt modelId="{BD8E95A7-4A07-430B-B6DD-80B2F6A4DA90}" type="pres">
      <dgm:prSet presAssocID="{B69B3226-EEF9-4139-BDB9-A356FFB516A0}" presName="sibTrans" presStyleCnt="0"/>
      <dgm:spPr/>
    </dgm:pt>
    <dgm:pt modelId="{D7DDD0BD-1972-4A83-B2D2-2E2BF52DCF58}" type="pres">
      <dgm:prSet presAssocID="{E5E1348B-3DF0-41A0-B748-41F2C7DA2AD4}" presName="compNode" presStyleCnt="0"/>
      <dgm:spPr/>
    </dgm:pt>
    <dgm:pt modelId="{2BB21B12-7839-40EA-A8DF-AAB439AF9B32}" type="pres">
      <dgm:prSet presAssocID="{E5E1348B-3DF0-41A0-B748-41F2C7DA2A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D029324B-AB90-41E5-880E-74964C77C690}" type="pres">
      <dgm:prSet presAssocID="{E5E1348B-3DF0-41A0-B748-41F2C7DA2AD4}" presName="iconSpace" presStyleCnt="0"/>
      <dgm:spPr/>
    </dgm:pt>
    <dgm:pt modelId="{2E3FAABF-702E-45E6-87C4-1778216B86E8}" type="pres">
      <dgm:prSet presAssocID="{E5E1348B-3DF0-41A0-B748-41F2C7DA2AD4}" presName="parTx" presStyleLbl="revTx" presStyleIdx="2" presStyleCnt="6">
        <dgm:presLayoutVars>
          <dgm:chMax val="0"/>
          <dgm:chPref val="0"/>
        </dgm:presLayoutVars>
      </dgm:prSet>
      <dgm:spPr/>
    </dgm:pt>
    <dgm:pt modelId="{77A3BBC1-5A5A-46FA-B040-584A80C5E635}" type="pres">
      <dgm:prSet presAssocID="{E5E1348B-3DF0-41A0-B748-41F2C7DA2AD4}" presName="txSpace" presStyleCnt="0"/>
      <dgm:spPr/>
    </dgm:pt>
    <dgm:pt modelId="{A295CA56-8803-4E8D-B90F-5ABB24220740}" type="pres">
      <dgm:prSet presAssocID="{E5E1348B-3DF0-41A0-B748-41F2C7DA2AD4}" presName="desTx" presStyleLbl="revTx" presStyleIdx="3" presStyleCnt="6">
        <dgm:presLayoutVars/>
      </dgm:prSet>
      <dgm:spPr/>
    </dgm:pt>
    <dgm:pt modelId="{C42D697E-A559-4834-A8C7-4DAFFCF0774D}" type="pres">
      <dgm:prSet presAssocID="{1A7CC521-2DD0-4FB8-9D2E-DDD6263F4D1D}" presName="sibTrans" presStyleCnt="0"/>
      <dgm:spPr/>
    </dgm:pt>
    <dgm:pt modelId="{C8BCBD9B-92D5-4557-9A6A-0099497971C8}" type="pres">
      <dgm:prSet presAssocID="{5AB41B14-1A98-493A-95F1-F35CF362A7C4}" presName="compNode" presStyleCnt="0"/>
      <dgm:spPr/>
    </dgm:pt>
    <dgm:pt modelId="{C6099119-E078-4702-9A20-B2787E39D5E8}" type="pres">
      <dgm:prSet presAssocID="{5AB41B14-1A98-493A-95F1-F35CF362A7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1CC9CD4-4FF7-4C19-A8D9-4D525E308869}" type="pres">
      <dgm:prSet presAssocID="{5AB41B14-1A98-493A-95F1-F35CF362A7C4}" presName="iconSpace" presStyleCnt="0"/>
      <dgm:spPr/>
    </dgm:pt>
    <dgm:pt modelId="{FF356550-2560-4A5B-B8AD-F8B0417E10BA}" type="pres">
      <dgm:prSet presAssocID="{5AB41B14-1A98-493A-95F1-F35CF362A7C4}" presName="parTx" presStyleLbl="revTx" presStyleIdx="4" presStyleCnt="6">
        <dgm:presLayoutVars>
          <dgm:chMax val="0"/>
          <dgm:chPref val="0"/>
        </dgm:presLayoutVars>
      </dgm:prSet>
      <dgm:spPr/>
    </dgm:pt>
    <dgm:pt modelId="{5584D289-74FE-41CF-86B1-9879B75E0B29}" type="pres">
      <dgm:prSet presAssocID="{5AB41B14-1A98-493A-95F1-F35CF362A7C4}" presName="txSpace" presStyleCnt="0"/>
      <dgm:spPr/>
    </dgm:pt>
    <dgm:pt modelId="{8D82798F-AB7B-48FF-8F30-F9E80FDC5A3D}" type="pres">
      <dgm:prSet presAssocID="{5AB41B14-1A98-493A-95F1-F35CF362A7C4}" presName="desTx" presStyleLbl="revTx" presStyleIdx="5" presStyleCnt="6">
        <dgm:presLayoutVars/>
      </dgm:prSet>
      <dgm:spPr/>
    </dgm:pt>
  </dgm:ptLst>
  <dgm:cxnLst>
    <dgm:cxn modelId="{7CB45712-E604-499F-B9AA-9A7C38EC722B}" type="presOf" srcId="{DD26210B-CED5-4191-AF0F-9AA0CA44A32C}" destId="{F9BFE567-AB5F-4316-AA29-999DB5C5FB69}" srcOrd="0" destOrd="0" presId="urn:microsoft.com/office/officeart/2018/2/layout/IconLabelDescriptionList"/>
    <dgm:cxn modelId="{98B3AB35-771D-4F7D-82C5-724505498541}" type="presOf" srcId="{D098982B-0AC9-4A64-AA3C-D78FC22A9E46}" destId="{26CB17C7-0710-40E2-919C-8C58BBB20FA3}" srcOrd="0" destOrd="0" presId="urn:microsoft.com/office/officeart/2018/2/layout/IconLabelDescriptionList"/>
    <dgm:cxn modelId="{4BF32C62-E3E0-448B-8FF3-2F327F274DFE}" type="presOf" srcId="{C9BDB832-2859-4BB0-95C6-0688AAB3FDF7}" destId="{F9BFE567-AB5F-4316-AA29-999DB5C5FB69}" srcOrd="0" destOrd="1" presId="urn:microsoft.com/office/officeart/2018/2/layout/IconLabelDescriptionList"/>
    <dgm:cxn modelId="{81D9CF73-0FF6-413A-8608-B6D8E698BA71}" srcId="{5AB41B14-1A98-493A-95F1-F35CF362A7C4}" destId="{D68DF8CA-33DA-4F69-A4FB-61FF613FBDD5}" srcOrd="1" destOrd="0" parTransId="{74216F9E-F117-4D46-A2C6-883386113FA7}" sibTransId="{590FFD2C-C130-42F8-AE0D-E65049E7F0C8}"/>
    <dgm:cxn modelId="{B0F3E857-99A3-4213-B2FA-A64CD8CC6E11}" type="presOf" srcId="{E5E1348B-3DF0-41A0-B748-41F2C7DA2AD4}" destId="{2E3FAABF-702E-45E6-87C4-1778216B86E8}" srcOrd="0" destOrd="0" presId="urn:microsoft.com/office/officeart/2018/2/layout/IconLabelDescriptionList"/>
    <dgm:cxn modelId="{50E5407D-B0C5-471C-9FCE-CA80902C2683}" type="presOf" srcId="{D68DF8CA-33DA-4F69-A4FB-61FF613FBDD5}" destId="{8D82798F-AB7B-48FF-8F30-F9E80FDC5A3D}" srcOrd="0" destOrd="1" presId="urn:microsoft.com/office/officeart/2018/2/layout/IconLabelDescriptionList"/>
    <dgm:cxn modelId="{99CE7882-00E0-4E98-B379-64F5D2F300EF}" srcId="{E5E1348B-3DF0-41A0-B748-41F2C7DA2AD4}" destId="{52BA53DA-5074-4F28-8100-0A90F5E764B2}" srcOrd="0" destOrd="0" parTransId="{9EC7DC08-B729-4BE8-8076-EEC644EE22B5}" sibTransId="{C5BD3AFF-AC9B-47EA-B8E0-4E2D760318C0}"/>
    <dgm:cxn modelId="{0A566B8F-8CED-4341-A8CD-5B2555DE5B14}" type="presOf" srcId="{3084DE12-F9FA-46CA-AA3F-DD75CA135CD3}" destId="{8D82798F-AB7B-48FF-8F30-F9E80FDC5A3D}" srcOrd="0" destOrd="0" presId="urn:microsoft.com/office/officeart/2018/2/layout/IconLabelDescriptionList"/>
    <dgm:cxn modelId="{9D7CE698-582F-42B0-A4F2-E0C634D6302C}" srcId="{AB044B07-E397-45E6-82C1-1EDD93912CB4}" destId="{C9BDB832-2859-4BB0-95C6-0688AAB3FDF7}" srcOrd="1" destOrd="0" parTransId="{E32BF708-AACC-40E8-A747-8CC3C74C6AD7}" sibTransId="{3CD9BDF2-4A73-4FCA-9AF9-7680EC610CB5}"/>
    <dgm:cxn modelId="{0F5FCD9E-C307-424C-BE95-E46EF5F55C76}" srcId="{AB044B07-E397-45E6-82C1-1EDD93912CB4}" destId="{DD26210B-CED5-4191-AF0F-9AA0CA44A32C}" srcOrd="0" destOrd="0" parTransId="{8B953D86-955C-4A61-9DBF-2B0B48071C67}" sibTransId="{EFDC39DA-9931-4ED7-B6A9-0B12B180D1C0}"/>
    <dgm:cxn modelId="{3E2141AB-B76F-4C7E-A3B7-0F42E3325CAA}" type="presOf" srcId="{5AB41B14-1A98-493A-95F1-F35CF362A7C4}" destId="{FF356550-2560-4A5B-B8AD-F8B0417E10BA}" srcOrd="0" destOrd="0" presId="urn:microsoft.com/office/officeart/2018/2/layout/IconLabelDescriptionList"/>
    <dgm:cxn modelId="{6B9E61AB-20F5-4C52-8D41-F865644893D5}" srcId="{D098982B-0AC9-4A64-AA3C-D78FC22A9E46}" destId="{5AB41B14-1A98-493A-95F1-F35CF362A7C4}" srcOrd="2" destOrd="0" parTransId="{14B1AD7B-F6A8-452E-93D5-3609C926743F}" sibTransId="{6E24446F-3730-46BA-A8D7-046607B6BD76}"/>
    <dgm:cxn modelId="{A7CD61AE-ADB8-47BA-A8D5-048C0F30701F}" srcId="{D098982B-0AC9-4A64-AA3C-D78FC22A9E46}" destId="{E5E1348B-3DF0-41A0-B748-41F2C7DA2AD4}" srcOrd="1" destOrd="0" parTransId="{399A2C15-BF44-4C92-9387-24FD04D18B9C}" sibTransId="{1A7CC521-2DD0-4FB8-9D2E-DDD6263F4D1D}"/>
    <dgm:cxn modelId="{5B9902B0-7BE7-4684-A727-97E31C30B980}" type="presOf" srcId="{AB044B07-E397-45E6-82C1-1EDD93912CB4}" destId="{2E54ECFF-4738-483A-A19A-D4353862ECC4}" srcOrd="0" destOrd="0" presId="urn:microsoft.com/office/officeart/2018/2/layout/IconLabelDescriptionList"/>
    <dgm:cxn modelId="{9AE4B9CA-67D6-4C3E-A187-D9491D9BBBF9}" srcId="{5AB41B14-1A98-493A-95F1-F35CF362A7C4}" destId="{3084DE12-F9FA-46CA-AA3F-DD75CA135CD3}" srcOrd="0" destOrd="0" parTransId="{5DCBA7B6-A2AF-4CD4-AAD6-540030E57365}" sibTransId="{CD10D79D-7BCB-4546-9446-98F7DE056F7F}"/>
    <dgm:cxn modelId="{B52402E9-C817-44D8-802F-9614712E3B66}" type="presOf" srcId="{52BA53DA-5074-4F28-8100-0A90F5E764B2}" destId="{A295CA56-8803-4E8D-B90F-5ABB24220740}" srcOrd="0" destOrd="0" presId="urn:microsoft.com/office/officeart/2018/2/layout/IconLabelDescriptionList"/>
    <dgm:cxn modelId="{C4715AF9-717F-4414-B3DD-B0A97F62C169}" srcId="{D098982B-0AC9-4A64-AA3C-D78FC22A9E46}" destId="{AB044B07-E397-45E6-82C1-1EDD93912CB4}" srcOrd="0" destOrd="0" parTransId="{DA060896-4C82-4DB8-A640-30FC862206B2}" sibTransId="{B69B3226-EEF9-4139-BDB9-A356FFB516A0}"/>
    <dgm:cxn modelId="{EC33D2B4-5D19-4E1C-88CC-7831D3DF6561}" type="presParOf" srcId="{26CB17C7-0710-40E2-919C-8C58BBB20FA3}" destId="{69CADC6C-5884-4313-85B8-B78F37C8FA04}" srcOrd="0" destOrd="0" presId="urn:microsoft.com/office/officeart/2018/2/layout/IconLabelDescriptionList"/>
    <dgm:cxn modelId="{8034DD5C-F131-4102-8BCA-FFAD05F37C3D}" type="presParOf" srcId="{69CADC6C-5884-4313-85B8-B78F37C8FA04}" destId="{0B142F54-93DB-41BD-876E-6E3CE6F5D93E}" srcOrd="0" destOrd="0" presId="urn:microsoft.com/office/officeart/2018/2/layout/IconLabelDescriptionList"/>
    <dgm:cxn modelId="{E4FF3028-E218-4997-A7DD-5B1CA35A37CB}" type="presParOf" srcId="{69CADC6C-5884-4313-85B8-B78F37C8FA04}" destId="{A2F8977D-B9AD-419A-9162-100B9303E044}" srcOrd="1" destOrd="0" presId="urn:microsoft.com/office/officeart/2018/2/layout/IconLabelDescriptionList"/>
    <dgm:cxn modelId="{C1092E2E-243D-48D0-81E9-9893F137914C}" type="presParOf" srcId="{69CADC6C-5884-4313-85B8-B78F37C8FA04}" destId="{2E54ECFF-4738-483A-A19A-D4353862ECC4}" srcOrd="2" destOrd="0" presId="urn:microsoft.com/office/officeart/2018/2/layout/IconLabelDescriptionList"/>
    <dgm:cxn modelId="{A6C635B5-1AA0-4D33-8786-03FD10D29C94}" type="presParOf" srcId="{69CADC6C-5884-4313-85B8-B78F37C8FA04}" destId="{A750D02A-B22C-40BC-B47D-B5A078CDEA92}" srcOrd="3" destOrd="0" presId="urn:microsoft.com/office/officeart/2018/2/layout/IconLabelDescriptionList"/>
    <dgm:cxn modelId="{1D1522BC-253C-4C77-88A8-632618F42E9E}" type="presParOf" srcId="{69CADC6C-5884-4313-85B8-B78F37C8FA04}" destId="{F9BFE567-AB5F-4316-AA29-999DB5C5FB69}" srcOrd="4" destOrd="0" presId="urn:microsoft.com/office/officeart/2018/2/layout/IconLabelDescriptionList"/>
    <dgm:cxn modelId="{3271BD6F-076A-43BB-B4F2-5C64E712BF0B}" type="presParOf" srcId="{26CB17C7-0710-40E2-919C-8C58BBB20FA3}" destId="{BD8E95A7-4A07-430B-B6DD-80B2F6A4DA90}" srcOrd="1" destOrd="0" presId="urn:microsoft.com/office/officeart/2018/2/layout/IconLabelDescriptionList"/>
    <dgm:cxn modelId="{DE9B4A93-55CA-40EC-AA81-62497ED6E3F3}" type="presParOf" srcId="{26CB17C7-0710-40E2-919C-8C58BBB20FA3}" destId="{D7DDD0BD-1972-4A83-B2D2-2E2BF52DCF58}" srcOrd="2" destOrd="0" presId="urn:microsoft.com/office/officeart/2018/2/layout/IconLabelDescriptionList"/>
    <dgm:cxn modelId="{2D6D4324-2C2C-4FA6-A5FD-2E536E40A0B5}" type="presParOf" srcId="{D7DDD0BD-1972-4A83-B2D2-2E2BF52DCF58}" destId="{2BB21B12-7839-40EA-A8DF-AAB439AF9B32}" srcOrd="0" destOrd="0" presId="urn:microsoft.com/office/officeart/2018/2/layout/IconLabelDescriptionList"/>
    <dgm:cxn modelId="{E575EA2A-20D4-4C8F-9AB6-6DE334689343}" type="presParOf" srcId="{D7DDD0BD-1972-4A83-B2D2-2E2BF52DCF58}" destId="{D029324B-AB90-41E5-880E-74964C77C690}" srcOrd="1" destOrd="0" presId="urn:microsoft.com/office/officeart/2018/2/layout/IconLabelDescriptionList"/>
    <dgm:cxn modelId="{7A7B309E-AD04-4A91-825F-6B0A54D71E51}" type="presParOf" srcId="{D7DDD0BD-1972-4A83-B2D2-2E2BF52DCF58}" destId="{2E3FAABF-702E-45E6-87C4-1778216B86E8}" srcOrd="2" destOrd="0" presId="urn:microsoft.com/office/officeart/2018/2/layout/IconLabelDescriptionList"/>
    <dgm:cxn modelId="{555E5147-C489-4EAD-8BAA-E2D9BF5684E8}" type="presParOf" srcId="{D7DDD0BD-1972-4A83-B2D2-2E2BF52DCF58}" destId="{77A3BBC1-5A5A-46FA-B040-584A80C5E635}" srcOrd="3" destOrd="0" presId="urn:microsoft.com/office/officeart/2018/2/layout/IconLabelDescriptionList"/>
    <dgm:cxn modelId="{B79FAD18-0570-496B-890B-C675C85F6063}" type="presParOf" srcId="{D7DDD0BD-1972-4A83-B2D2-2E2BF52DCF58}" destId="{A295CA56-8803-4E8D-B90F-5ABB24220740}" srcOrd="4" destOrd="0" presId="urn:microsoft.com/office/officeart/2018/2/layout/IconLabelDescriptionList"/>
    <dgm:cxn modelId="{6C172758-EE2F-489B-B7F1-97877D213CB2}" type="presParOf" srcId="{26CB17C7-0710-40E2-919C-8C58BBB20FA3}" destId="{C42D697E-A559-4834-A8C7-4DAFFCF0774D}" srcOrd="3" destOrd="0" presId="urn:microsoft.com/office/officeart/2018/2/layout/IconLabelDescriptionList"/>
    <dgm:cxn modelId="{1D93031E-1C42-4966-9383-E0B51720143F}" type="presParOf" srcId="{26CB17C7-0710-40E2-919C-8C58BBB20FA3}" destId="{C8BCBD9B-92D5-4557-9A6A-0099497971C8}" srcOrd="4" destOrd="0" presId="urn:microsoft.com/office/officeart/2018/2/layout/IconLabelDescriptionList"/>
    <dgm:cxn modelId="{E03701E1-6A44-4153-A651-761E1027D2B5}" type="presParOf" srcId="{C8BCBD9B-92D5-4557-9A6A-0099497971C8}" destId="{C6099119-E078-4702-9A20-B2787E39D5E8}" srcOrd="0" destOrd="0" presId="urn:microsoft.com/office/officeart/2018/2/layout/IconLabelDescriptionList"/>
    <dgm:cxn modelId="{34C91E4D-D4F1-4D35-A5F6-43E6D43F9B96}" type="presParOf" srcId="{C8BCBD9B-92D5-4557-9A6A-0099497971C8}" destId="{71CC9CD4-4FF7-4C19-A8D9-4D525E308869}" srcOrd="1" destOrd="0" presId="urn:microsoft.com/office/officeart/2018/2/layout/IconLabelDescriptionList"/>
    <dgm:cxn modelId="{EB0A75EC-EF65-4272-9BA6-1339A67C92B4}" type="presParOf" srcId="{C8BCBD9B-92D5-4557-9A6A-0099497971C8}" destId="{FF356550-2560-4A5B-B8AD-F8B0417E10BA}" srcOrd="2" destOrd="0" presId="urn:microsoft.com/office/officeart/2018/2/layout/IconLabelDescriptionList"/>
    <dgm:cxn modelId="{6E90574F-9F8B-430B-A265-FDED359CB35C}" type="presParOf" srcId="{C8BCBD9B-92D5-4557-9A6A-0099497971C8}" destId="{5584D289-74FE-41CF-86B1-9879B75E0B29}" srcOrd="3" destOrd="0" presId="urn:microsoft.com/office/officeart/2018/2/layout/IconLabelDescriptionList"/>
    <dgm:cxn modelId="{1968325B-0973-46F6-84A7-0DFDCB65999D}" type="presParOf" srcId="{C8BCBD9B-92D5-4557-9A6A-0099497971C8}" destId="{8D82798F-AB7B-48FF-8F30-F9E80FDC5A3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42F54-93DB-41BD-876E-6E3CE6F5D93E}">
      <dsp:nvSpPr>
        <dsp:cNvPr id="0" name=""/>
        <dsp:cNvSpPr/>
      </dsp:nvSpPr>
      <dsp:spPr>
        <a:xfrm>
          <a:off x="1436" y="102486"/>
          <a:ext cx="1210781" cy="12107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4ECFF-4738-483A-A19A-D4353862ECC4}">
      <dsp:nvSpPr>
        <dsp:cNvPr id="0" name=""/>
        <dsp:cNvSpPr/>
      </dsp:nvSpPr>
      <dsp:spPr>
        <a:xfrm>
          <a:off x="1436" y="1518834"/>
          <a:ext cx="3459374" cy="51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600" b="1" kern="1200"/>
            <a:t>Product Backlog</a:t>
          </a:r>
          <a:endParaRPr lang="en-US" sz="3600" kern="1200"/>
        </a:p>
      </dsp:txBody>
      <dsp:txXfrm>
        <a:off x="1436" y="1518834"/>
        <a:ext cx="3459374" cy="518906"/>
      </dsp:txXfrm>
    </dsp:sp>
    <dsp:sp modelId="{F9BFE567-AB5F-4316-AA29-999DB5C5FB69}">
      <dsp:nvSpPr>
        <dsp:cNvPr id="0" name=""/>
        <dsp:cNvSpPr/>
      </dsp:nvSpPr>
      <dsp:spPr>
        <a:xfrm>
          <a:off x="1436" y="2133353"/>
          <a:ext cx="3459374" cy="2749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É todo requerimento que existe e que ainda não foi desenvolvido e deve está dentro do backlog. É a lista de funcionalidade, por prioridades.</a:t>
          </a:r>
          <a:endParaRPr lang="en-US" sz="1700" kern="1200" dirty="0"/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O </a:t>
          </a:r>
          <a:r>
            <a:rPr lang="pt-BR" sz="1700" kern="1200" dirty="0" err="1"/>
            <a:t>product</a:t>
          </a:r>
          <a:r>
            <a:rPr lang="pt-BR" sz="1700" kern="1200" dirty="0"/>
            <a:t> backlog tem que ser uma única fonte, não deve existe outra fonte e nunca deve ter mais de uma fonte. O </a:t>
          </a:r>
          <a:r>
            <a:rPr lang="pt-BR" sz="1700" i="1" kern="1200" dirty="0" err="1"/>
            <a:t>product</a:t>
          </a:r>
          <a:r>
            <a:rPr lang="pt-BR" sz="1700" i="1" kern="1200" dirty="0"/>
            <a:t> backlog </a:t>
          </a:r>
          <a:r>
            <a:rPr lang="pt-BR" sz="1700" kern="1200" dirty="0"/>
            <a:t>é a única fonte de requerimento e necessidade de caso de uso do produto que deve existir. </a:t>
          </a:r>
          <a:endParaRPr lang="en-US" sz="1700" kern="1200" dirty="0"/>
        </a:p>
      </dsp:txBody>
      <dsp:txXfrm>
        <a:off x="1436" y="2133353"/>
        <a:ext cx="3459374" cy="2749749"/>
      </dsp:txXfrm>
    </dsp:sp>
    <dsp:sp modelId="{2BB21B12-7839-40EA-A8DF-AAB439AF9B32}">
      <dsp:nvSpPr>
        <dsp:cNvPr id="0" name=""/>
        <dsp:cNvSpPr/>
      </dsp:nvSpPr>
      <dsp:spPr>
        <a:xfrm>
          <a:off x="4066202" y="102486"/>
          <a:ext cx="1210781" cy="12107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FAABF-702E-45E6-87C4-1778216B86E8}">
      <dsp:nvSpPr>
        <dsp:cNvPr id="0" name=""/>
        <dsp:cNvSpPr/>
      </dsp:nvSpPr>
      <dsp:spPr>
        <a:xfrm>
          <a:off x="4066202" y="1518834"/>
          <a:ext cx="3459374" cy="51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600" b="1" kern="1200" dirty="0"/>
            <a:t>Sprint Backlog</a:t>
          </a:r>
          <a:endParaRPr lang="en-US" sz="3600" kern="1200" dirty="0"/>
        </a:p>
      </dsp:txBody>
      <dsp:txXfrm>
        <a:off x="4066202" y="1518834"/>
        <a:ext cx="3459374" cy="518906"/>
      </dsp:txXfrm>
    </dsp:sp>
    <dsp:sp modelId="{A295CA56-8803-4E8D-B90F-5ABB24220740}">
      <dsp:nvSpPr>
        <dsp:cNvPr id="0" name=""/>
        <dsp:cNvSpPr/>
      </dsp:nvSpPr>
      <dsp:spPr>
        <a:xfrm>
          <a:off x="4066202" y="2133353"/>
          <a:ext cx="3459374" cy="2749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É todo requerimento, todas as estórias que o time trouxe par a sprint para desenvolver naquele período de tempo.</a:t>
          </a:r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700" kern="1200" dirty="0"/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4066202" y="2133353"/>
        <a:ext cx="3459374" cy="2749749"/>
      </dsp:txXfrm>
    </dsp:sp>
    <dsp:sp modelId="{C6099119-E078-4702-9A20-B2787E39D5E8}">
      <dsp:nvSpPr>
        <dsp:cNvPr id="0" name=""/>
        <dsp:cNvSpPr/>
      </dsp:nvSpPr>
      <dsp:spPr>
        <a:xfrm>
          <a:off x="8130967" y="102486"/>
          <a:ext cx="1210781" cy="12107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56550-2560-4A5B-B8AD-F8B0417E10BA}">
      <dsp:nvSpPr>
        <dsp:cNvPr id="0" name=""/>
        <dsp:cNvSpPr/>
      </dsp:nvSpPr>
      <dsp:spPr>
        <a:xfrm>
          <a:off x="8130967" y="1518834"/>
          <a:ext cx="3459374" cy="51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600" b="1" kern="1200" dirty="0" err="1"/>
            <a:t>Increment</a:t>
          </a:r>
          <a:endParaRPr lang="en-US" sz="3600" kern="1200" dirty="0"/>
        </a:p>
      </dsp:txBody>
      <dsp:txXfrm>
        <a:off x="8130967" y="1518834"/>
        <a:ext cx="3459374" cy="518906"/>
      </dsp:txXfrm>
    </dsp:sp>
    <dsp:sp modelId="{8D82798F-AB7B-48FF-8F30-F9E80FDC5A3D}">
      <dsp:nvSpPr>
        <dsp:cNvPr id="0" name=""/>
        <dsp:cNvSpPr/>
      </dsp:nvSpPr>
      <dsp:spPr>
        <a:xfrm>
          <a:off x="8130967" y="2133353"/>
          <a:ext cx="3459374" cy="2749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É o resultado de um período que o time trabalhou para desenvolver aquele produto, aquela estória que foram puxadas para tem determinado período.</a:t>
          </a:r>
          <a:endParaRPr lang="en-US" sz="1700" kern="1200" dirty="0"/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O incremento é o resultado final integrado com todos as outras entregas anteriores.  </a:t>
          </a:r>
          <a:endParaRPr lang="en-US" sz="1700" kern="1200" dirty="0"/>
        </a:p>
      </dsp:txBody>
      <dsp:txXfrm>
        <a:off x="8130967" y="2133353"/>
        <a:ext cx="3459374" cy="2749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47C6F-ADF6-43F3-97B4-3BB3EE70B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B6DF5E-27BB-436E-BBA7-B9010C565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35AA2B-71AE-4772-8791-B2C31CA4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DB6FEC-1684-4432-AAF1-8109F7DF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899898-E324-400A-91C0-F37B8C6A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14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0F7F7-BD0F-452F-9FE8-01DCF111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C37B6-55D0-4545-AF11-58238C31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49DCA7-F3CF-4BBB-AE93-0C61839F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06940-972C-4897-B977-58EA5940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E8CFC6-A6B7-48D6-82F4-8F6D11CF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05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2C80C-07ED-408C-BEEA-8F7C905D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D4B621-6297-4CBD-AAC0-5959E502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F60EC-1BA8-49A6-9214-6614D8365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E23B3C-8AD2-442A-BDA7-AD4C72E2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66D7D7-4D93-41C8-9FF0-9632F2C2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31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308D5-4899-488B-A117-469A97CB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F67161-F892-4A24-BABB-7EE87D89E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59B546-9CCB-4E2E-BD54-DF6085B9E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5B016A-D9C0-4DC2-8DB5-516F1D6C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FC9F92-6675-44AE-87C4-73C411C6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E3AE71-A54B-4612-A59D-33481291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5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C9C43-299C-4611-86C4-0DA4E12FF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EE4060-A108-4E69-B0B3-77644F9ED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FB49CD-F182-48BF-B875-6F0F83A4F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FEA1B2-1FF0-4C62-BE9A-5D48CFA2AE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008C0F-8A7C-46D7-9893-98FBBD896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8D28792-302C-447D-A047-6DA03C3D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56FD29-FB2A-41B2-BB3B-20763ABB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6E7464-6B17-42FC-8853-8C581927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23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5C3F6-6CFD-4302-9774-FB9A92AA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3D0147-1281-470E-A07E-387CD986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08AE45-5718-48EE-86F5-FACEEA26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03034F-6F12-498F-9F25-2AD7ADCE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40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D6F791-1DC7-495E-AB2D-FB8A6C12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3ACFCA-40EC-4D91-8B74-0880EEA5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0B3E67-AE2E-44C9-9A0C-354256B6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67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1D8C3-4D9E-47DB-A41C-7BD456D7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BB9FA2-B85C-494B-BCE2-022D585D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3BECA4-9598-4B43-A912-9EDF02181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68C3AA-1E51-4608-B3F3-4754660C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CF51B1-5BC7-4C2B-A99F-73ACFCF2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033248-6CE0-48A7-A99C-7D5BAB77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12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D2441-689E-4F5B-BF2F-F2682B89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EB6710-A591-4EE1-8DE1-91FA07226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044273-53FF-43EF-92A1-B71939DAE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B48AAE-066E-431A-9159-6F9A98CF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2419DF-FE28-4B64-B933-B6F9E8CC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CAF887-E126-4839-B9CD-272E416A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5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8C3E7-05F5-4B2B-B093-16F0995B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D1D98C-EA30-4808-B5A0-D7397C4B2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552251-737B-4B1A-8914-15642B56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C9323D-F808-437F-BFA0-522A4A71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08C149-DC7C-40F8-A9B8-780FA8D6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67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C2211B-96E7-49A9-BF12-8E7B020A9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0DE40-ADF5-4366-B739-ECFA5611E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6B3517-B12B-4165-9D4D-1337FFAF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3CC475-3AA9-4160-ACDC-924F9264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42F11A-7236-4D6E-BB41-F443789B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312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ED3A56-FF3B-4E9C-A940-4020BBDE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DBE181-D329-4E40-9A4E-C4A160660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0D1A22-6116-444E-8A5E-FA4060D35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02658-8E96-4511-9121-F5FC08A6A7F7}" type="datetimeFigureOut">
              <a:rPr lang="pt-BR" smtClean="0"/>
              <a:t>23/02/2021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376C4-0548-4C35-B349-6ABCDCED3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30E6C9-F005-4AC3-9C71-ABC7938A9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A9FFE-453B-45E3-997E-A045D88E41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0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6A682-A172-4D69-9548-E97B9FAA50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D4418C-4978-4A4F-BC96-5513A62E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Aula Scrum</a:t>
            </a:r>
            <a:br>
              <a:rPr lang="en-US" sz="6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Claudio Lima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47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5C39AB-1023-480A-842D-A72924B3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pPr algn="ctr"/>
            <a:r>
              <a:rPr lang="pt-BR" sz="5100" b="1" dirty="0"/>
              <a:t>Situação-problema</a:t>
            </a:r>
            <a:br>
              <a:rPr lang="pt-BR" sz="5100" b="1" dirty="0"/>
            </a:br>
            <a:endParaRPr lang="pt-BR" sz="51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69AF8-0DD4-4DC8-98D9-9C66B81B4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950" y="3335867"/>
            <a:ext cx="2728198" cy="2728198"/>
          </a:xfrm>
          <a:prstGeom prst="rect">
            <a:avLst/>
          </a:prstGeom>
        </p:spPr>
      </p:pic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DB51562-1240-4563-AA2C-8E7E6DAFF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69972" y="2200695"/>
            <a:ext cx="5761149" cy="350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2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5C39AB-1023-480A-842D-A72924B3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pt-BR" sz="5100" b="1"/>
              <a:t>O que são métodos ágeis?</a:t>
            </a:r>
            <a:br>
              <a:rPr lang="pt-BR" sz="5100" b="1"/>
            </a:br>
            <a:endParaRPr lang="pt-BR" sz="51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69AF8-0DD4-4DC8-98D9-9C66B81B4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950" y="3335867"/>
            <a:ext cx="2728198" cy="272819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3A07B6-39DB-4A4E-8B4B-E943D62D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252" y="2082018"/>
            <a:ext cx="8485576" cy="3644458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sz="2400" dirty="0"/>
              <a:t>	Os </a:t>
            </a:r>
            <a:r>
              <a:rPr lang="pt-BR" sz="2400" b="1" dirty="0"/>
              <a:t>métodos ágeis</a:t>
            </a:r>
            <a:r>
              <a:rPr lang="pt-BR" sz="2400" dirty="0"/>
              <a:t> são uma alternativa à gestão tradicional de projetos, eles nasceram nos braços do desenvolvimento de software, mas hoje podem ser aplicados a qualquer tipo de projeto (inclusive os que não se remetem ao software). Os </a:t>
            </a:r>
            <a:r>
              <a:rPr lang="pt-BR" sz="2400" b="1" dirty="0"/>
              <a:t>métodos ágeis</a:t>
            </a:r>
            <a:r>
              <a:rPr lang="pt-BR" sz="2400" dirty="0"/>
              <a:t> vem ajudando muitas equipes a encarar a imprevisibilidades dentro de um projeto através de entregas incrementais e ciclos iterativos.</a:t>
            </a:r>
          </a:p>
        </p:txBody>
      </p:sp>
    </p:spTree>
    <p:extLst>
      <p:ext uri="{BB962C8B-B14F-4D97-AF65-F5344CB8AC3E}">
        <p14:creationId xmlns:p14="http://schemas.microsoft.com/office/powerpoint/2010/main" val="259695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41034D-0CB2-4DF1-8448-8A0E75F24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439" y="1531380"/>
            <a:ext cx="5925989" cy="3167510"/>
          </a:xfrm>
        </p:spPr>
        <p:txBody>
          <a:bodyPr anchor="b">
            <a:normAutofit/>
          </a:bodyPr>
          <a:lstStyle/>
          <a:p>
            <a:r>
              <a:rPr lang="pt-B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 Scrum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F7DF7E3-1D9F-44D1-9EE7-292EE364A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9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83F1580-556F-48FE-9D65-2F9FAB06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744" y="2242234"/>
            <a:ext cx="3667125" cy="32861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F7DF7E3-1D9F-44D1-9EE7-292EE364A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6315673-34E7-4ACC-A227-CD892BEDDEF9}"/>
              </a:ext>
            </a:extLst>
          </p:cNvPr>
          <p:cNvSpPr/>
          <p:nvPr/>
        </p:nvSpPr>
        <p:spPr>
          <a:xfrm>
            <a:off x="1906073" y="1047043"/>
            <a:ext cx="60217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 Scrum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0261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F7DF7E3-1D9F-44D1-9EE7-292EE364A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8743" y="1394458"/>
            <a:ext cx="2489416" cy="248941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6315673-34E7-4ACC-A227-CD892BEDDEF9}"/>
              </a:ext>
            </a:extLst>
          </p:cNvPr>
          <p:cNvSpPr/>
          <p:nvPr/>
        </p:nvSpPr>
        <p:spPr>
          <a:xfrm>
            <a:off x="1906073" y="1047043"/>
            <a:ext cx="60217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Pilares Scrum</a:t>
            </a:r>
            <a:endParaRPr lang="pt-BR" sz="66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6353188-7EC9-4F4A-A4E8-AF966119C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80" y="2302724"/>
            <a:ext cx="71247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173219-386D-44C9-A8D8-F7C88DA3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6" y="817763"/>
            <a:ext cx="2644611" cy="212191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692C8D9-05A2-4A35-B805-4428AD855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611" y="764220"/>
            <a:ext cx="3822579" cy="26629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86EEBE8-A570-4F06-B56A-7AF253CF8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6" y="3757437"/>
            <a:ext cx="3301282" cy="18962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527CBD8-24C7-486A-A677-A7BB17526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004" y="3604569"/>
            <a:ext cx="2662996" cy="2662996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9D67BA-A483-4E59-B919-7C20CBA20A7F}"/>
              </a:ext>
            </a:extLst>
          </p:cNvPr>
          <p:cNvSpPr txBox="1"/>
          <p:nvPr/>
        </p:nvSpPr>
        <p:spPr>
          <a:xfrm>
            <a:off x="7633251" y="1056640"/>
            <a:ext cx="3616905" cy="28129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Scrum</a:t>
            </a:r>
            <a:endParaRPr 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867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E65BA-94E4-4338-8B7A-13A2332E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3" y="1181099"/>
            <a:ext cx="10515600" cy="1325563"/>
          </a:xfrm>
        </p:spPr>
        <p:txBody>
          <a:bodyPr>
            <a:normAutofit/>
          </a:bodyPr>
          <a:lstStyle/>
          <a:p>
            <a:r>
              <a:rPr lang="pt-BR" sz="7200" dirty="0">
                <a:solidFill>
                  <a:schemeClr val="accent2"/>
                </a:solidFill>
              </a:rPr>
              <a:t>Scrum Master (SM)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ADB96-3FA7-4B00-BA33-81B876CBE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/>
              <a:t>	É a pessoa que cuida de pessoas, processos e ferramentas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Pessoas : </a:t>
            </a:r>
            <a:r>
              <a:rPr lang="pt-BR" dirty="0"/>
              <a:t>time Scrum, os stakeholders e a relação entre eles;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Processos</a:t>
            </a:r>
            <a:r>
              <a:rPr lang="pt-BR" dirty="0"/>
              <a:t>: É todo o fluxo do Scrum e tudo que se conectar no mundo exterior que o Scrum master tem que tomar conta disso;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Ferramentas</a:t>
            </a:r>
            <a:r>
              <a:rPr lang="pt-BR" dirty="0"/>
              <a:t>: O Scrum master é um dos facilitadores pra que os times ou principal facilitador o time tenham todas as ferramentas que precisam pra entregar o que é esperado.</a:t>
            </a:r>
          </a:p>
          <a:p>
            <a:pPr algn="just"/>
            <a:endParaRPr lang="pt-BR" dirty="0"/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C5C62B3-C929-47B4-BBAA-D970163A74AE}"/>
              </a:ext>
            </a:extLst>
          </p:cNvPr>
          <p:cNvSpPr txBox="1">
            <a:spLocks/>
          </p:cNvSpPr>
          <p:nvPr/>
        </p:nvSpPr>
        <p:spPr>
          <a:xfrm>
            <a:off x="944217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" dirty="0">
                <a:latin typeface="+mn-lt"/>
              </a:rPr>
              <a:t>03 Papéis Fundamentas – sem eles não há SCRUM</a:t>
            </a:r>
          </a:p>
        </p:txBody>
      </p:sp>
    </p:spTree>
    <p:extLst>
      <p:ext uri="{BB962C8B-B14F-4D97-AF65-F5344CB8AC3E}">
        <p14:creationId xmlns:p14="http://schemas.microsoft.com/office/powerpoint/2010/main" val="807700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73DBB1-650B-4666-B8CA-9027AA54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pt-BR" sz="7200" dirty="0" err="1">
                <a:solidFill>
                  <a:schemeClr val="accent2"/>
                </a:solidFill>
              </a:rPr>
              <a:t>Product</a:t>
            </a:r>
            <a:r>
              <a:rPr lang="pt-BR" sz="7200" dirty="0">
                <a:solidFill>
                  <a:schemeClr val="accent2"/>
                </a:solidFill>
              </a:rPr>
              <a:t> </a:t>
            </a:r>
            <a:r>
              <a:rPr lang="pt-BR" sz="7200" dirty="0" err="1">
                <a:solidFill>
                  <a:schemeClr val="accent2"/>
                </a:solidFill>
              </a:rPr>
              <a:t>Owner</a:t>
            </a:r>
            <a:r>
              <a:rPr lang="pt-BR" sz="7200" dirty="0">
                <a:solidFill>
                  <a:schemeClr val="accent2"/>
                </a:solidFill>
              </a:rPr>
              <a:t> (PO)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2B3747A-97B3-4D3E-87BC-30D4CB066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669085"/>
            <a:ext cx="10138134" cy="1876411"/>
          </a:xfrm>
        </p:spPr>
        <p:txBody>
          <a:bodyPr anchor="t">
            <a:normAutofit lnSpcReduction="10000"/>
          </a:bodyPr>
          <a:lstStyle/>
          <a:p>
            <a:pPr marL="0" indent="0" algn="just">
              <a:buNone/>
            </a:pPr>
            <a:r>
              <a:rPr lang="pt-BR" sz="2400" dirty="0"/>
              <a:t>	É a pessoa que é o ponto central com poderes de liderança sobre o produto ele é o único responsável por decidir quais recursos e funcionalidades serão construídos e qual a ordem que eles devem ser feitos é reponsabilidade dele manter e comunicar a todos os outros participantes uma visão clara do que a equipe SCRUM está buscando alcançar no projeto é ele quem prioriza os itens do </a:t>
            </a:r>
            <a:r>
              <a:rPr lang="pt-BR" sz="2400" i="1" dirty="0" err="1"/>
              <a:t>product</a:t>
            </a:r>
            <a:r>
              <a:rPr lang="pt-BR" sz="2400" i="1" dirty="0"/>
              <a:t> backlog.</a:t>
            </a:r>
          </a:p>
        </p:txBody>
      </p:sp>
    </p:spTree>
    <p:extLst>
      <p:ext uri="{BB962C8B-B14F-4D97-AF65-F5344CB8AC3E}">
        <p14:creationId xmlns:p14="http://schemas.microsoft.com/office/powerpoint/2010/main" val="1715642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5E86DB-21E7-42FF-AF9B-02DC7098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 fontScale="90000"/>
          </a:bodyPr>
          <a:lstStyle/>
          <a:p>
            <a:r>
              <a:rPr lang="pt-BR" sz="6700" dirty="0">
                <a:solidFill>
                  <a:schemeClr val="accent2"/>
                </a:solidFill>
              </a:rPr>
              <a:t>Desenvolvedores (</a:t>
            </a:r>
            <a:r>
              <a:rPr lang="pt-BR" sz="6700" dirty="0" err="1">
                <a:solidFill>
                  <a:schemeClr val="accent2"/>
                </a:solidFill>
              </a:rPr>
              <a:t>Dev</a:t>
            </a:r>
            <a:r>
              <a:rPr lang="pt-BR" sz="6700" dirty="0">
                <a:solidFill>
                  <a:schemeClr val="accent2"/>
                </a:solidFill>
              </a:rPr>
              <a:t> Team)</a:t>
            </a:r>
            <a:r>
              <a:rPr lang="pt-BR" sz="6700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221DF-BEAE-4A8C-8AF5-5CF9543D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9740569" cy="2053105"/>
          </a:xfrm>
        </p:spPr>
        <p:txBody>
          <a:bodyPr anchor="t">
            <a:normAutofit/>
          </a:bodyPr>
          <a:lstStyle/>
          <a:p>
            <a:r>
              <a:rPr lang="pt-BR" sz="2400" dirty="0"/>
              <a:t>São as pessoas que traduzem as necessidades de negócio para o produto final, ou seja, quem vai construir o projeto, no SCRU quem decide como fazer as coisas é o Team e não o gerente ou qualquer outra pessoa, a ideia é que a equipe se auto-organize para determinar a melhor maneira de realizar o trabalho para atingir a meta estabelecida pelo </a:t>
            </a:r>
            <a:r>
              <a:rPr lang="pt-BR" sz="2400" dirty="0" err="1">
                <a:solidFill>
                  <a:schemeClr val="accent2"/>
                </a:solidFill>
              </a:rPr>
              <a:t>Product</a:t>
            </a:r>
            <a:r>
              <a:rPr lang="pt-BR" sz="2400" dirty="0">
                <a:solidFill>
                  <a:schemeClr val="accent2"/>
                </a:solidFill>
              </a:rPr>
              <a:t> </a:t>
            </a:r>
            <a:r>
              <a:rPr lang="pt-BR" sz="2400" dirty="0" err="1">
                <a:solidFill>
                  <a:schemeClr val="accent2"/>
                </a:solidFill>
              </a:rPr>
              <a:t>Owner</a:t>
            </a:r>
            <a:r>
              <a:rPr lang="pt-BR" sz="2400" dirty="0">
                <a:solidFill>
                  <a:schemeClr val="accent2"/>
                </a:solidFill>
              </a:rPr>
              <a:t> 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8776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2BBC1-165C-4EBD-BC3A-67FBE405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03 Artefatos (visão do produto)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89966FD-D665-4DFD-BFA1-E35ADF7A7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142259"/>
              </p:ext>
            </p:extLst>
          </p:nvPr>
        </p:nvGraphicFramePr>
        <p:xfrm>
          <a:off x="300110" y="1336432"/>
          <a:ext cx="11591779" cy="4985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202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608D7-2D71-4334-BCDD-7F86FC39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Sprint Backlog</a:t>
            </a:r>
            <a:br>
              <a:rPr lang="en-US" dirty="0"/>
            </a:b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4AF7780-AB66-4B04-97B0-3E5B673B1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5736" y="1690688"/>
            <a:ext cx="7749019" cy="35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56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5A82F-5FFB-46BC-9CDC-5D5055AA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pt-BR"/>
              <a:t>04 Eventos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561160-7A3A-4BDC-88C4-5C1DE728F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1481068"/>
            <a:ext cx="11755902" cy="517295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3600" b="1" dirty="0">
                <a:solidFill>
                  <a:srgbClr val="FF0000"/>
                </a:solidFill>
              </a:rPr>
              <a:t>Sprint Planning</a:t>
            </a:r>
          </a:p>
          <a:p>
            <a:pPr marL="0" indent="0" algn="just">
              <a:buNone/>
            </a:pPr>
            <a:r>
              <a:rPr lang="pt-BR" sz="3600" dirty="0"/>
              <a:t>	É aonde o Time Scrum cria um plano para entregar e atingir um objetivo e entregar o incremento no final.</a:t>
            </a:r>
          </a:p>
          <a:p>
            <a:pPr algn="just"/>
            <a:r>
              <a:rPr lang="pt-BR" sz="3600" b="1" dirty="0">
                <a:solidFill>
                  <a:srgbClr val="FF0000"/>
                </a:solidFill>
              </a:rPr>
              <a:t>Daily Scrum</a:t>
            </a:r>
          </a:p>
          <a:p>
            <a:pPr marL="0" indent="0" algn="just">
              <a:buNone/>
            </a:pPr>
            <a:r>
              <a:rPr lang="pt-BR" sz="3600" dirty="0"/>
              <a:t>	Acontece diariamente, o time se sincronizam aonde eles estão e pra aonde eles estão indo e se adaptam se for o caso.</a:t>
            </a:r>
          </a:p>
          <a:p>
            <a:pPr algn="just"/>
            <a:r>
              <a:rPr lang="pt-BR" sz="3600" b="1" dirty="0">
                <a:solidFill>
                  <a:srgbClr val="FF0000"/>
                </a:solidFill>
              </a:rPr>
              <a:t>Sprint Review</a:t>
            </a:r>
          </a:p>
          <a:p>
            <a:pPr marL="0" indent="0" algn="just">
              <a:buNone/>
            </a:pPr>
            <a:r>
              <a:rPr lang="pt-BR" sz="3600" dirty="0"/>
              <a:t>	É lá no final quando agente entregou, terminou e vai apresentar para os stakeholders e  colher feedback para melhorar na próxima sprint. </a:t>
            </a:r>
          </a:p>
          <a:p>
            <a:pPr algn="just"/>
            <a:r>
              <a:rPr lang="pt-BR" sz="3600" b="1" dirty="0">
                <a:solidFill>
                  <a:srgbClr val="FF0000"/>
                </a:solidFill>
              </a:rPr>
              <a:t>Sprint </a:t>
            </a:r>
            <a:r>
              <a:rPr lang="pt-BR" sz="3600" b="1" dirty="0" err="1">
                <a:solidFill>
                  <a:srgbClr val="FF0000"/>
                </a:solidFill>
              </a:rPr>
              <a:t>Retrospective</a:t>
            </a:r>
            <a:endParaRPr lang="pt-BR" sz="36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pt-BR" sz="3600" dirty="0"/>
              <a:t>	Esse é uns dos melhores momentos para encontrar melhorias e trazer para a próxima sprint mais eficiente e valor para os nos stakeholders. </a:t>
            </a:r>
          </a:p>
          <a:p>
            <a:pPr marL="0" indent="0" algn="just">
              <a:buNone/>
            </a:pPr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Todo isso deve está contido tudo em uma Sprint (um contêiner para guardar todos os eventos)</a:t>
            </a:r>
          </a:p>
          <a:p>
            <a:pPr marL="0" indent="0" algn="just">
              <a:buNone/>
            </a:pPr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sprint começa com uma </a:t>
            </a:r>
            <a:r>
              <a:rPr lang="pt-BR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</a:t>
            </a:r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termina com a </a:t>
            </a:r>
            <a:r>
              <a:rPr lang="pt-BR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retrospective</a:t>
            </a:r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/>
            <a:endParaRPr lang="pt-BR" b="1" dirty="0">
              <a:solidFill>
                <a:srgbClr val="FF0000"/>
              </a:solidFill>
            </a:endParaRP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8093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D9189-152B-4655-AED2-31541F22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05 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DDF3FC-CD9F-4D91-B272-F8CD52B19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	Aqui é o estilo que iremos trabalhar, é o que governa os 5 valores do Scrum.</a:t>
            </a:r>
          </a:p>
          <a:p>
            <a:r>
              <a:rPr lang="pt-BR" b="1" dirty="0">
                <a:solidFill>
                  <a:srgbClr val="FF0000"/>
                </a:solidFill>
              </a:rPr>
              <a:t>Coragem</a:t>
            </a:r>
          </a:p>
          <a:p>
            <a:pPr marL="0" indent="0" algn="just">
              <a:buNone/>
            </a:pPr>
            <a:r>
              <a:rPr lang="pt-BR" dirty="0"/>
              <a:t>	O time Scrum precisa ter coragem para fazer a coisa certa e trabalhar em problemas difíceis. Muitas vezes agente trabalha em problemas difíceis, problemas complexos e precisamos ter coragem para abrir esses problemas  e falar e tratar sobre eles.</a:t>
            </a:r>
          </a:p>
          <a:p>
            <a:r>
              <a:rPr lang="pt-BR" b="1" dirty="0">
                <a:solidFill>
                  <a:srgbClr val="FF0000"/>
                </a:solidFill>
              </a:rPr>
              <a:t>Foco</a:t>
            </a:r>
          </a:p>
          <a:p>
            <a:pPr marL="0" indent="0">
              <a:buNone/>
            </a:pPr>
            <a:r>
              <a:rPr lang="pt-BR" dirty="0"/>
              <a:t>	Todos focam no trabalho da Sprint e nos objetivos do Time Scrum</a:t>
            </a:r>
          </a:p>
          <a:p>
            <a:r>
              <a:rPr lang="pt-BR" b="1" dirty="0">
                <a:solidFill>
                  <a:srgbClr val="FF0000"/>
                </a:solidFill>
              </a:rPr>
              <a:t>Comprometimento</a:t>
            </a:r>
          </a:p>
          <a:p>
            <a:pPr marL="0" indent="0">
              <a:buNone/>
            </a:pPr>
            <a:r>
              <a:rPr lang="pt-BR" dirty="0"/>
              <a:t>	As pessoas se comprometem pessoalmente em </a:t>
            </a:r>
            <a:r>
              <a:rPr lang="pt-BR" dirty="0">
                <a:solidFill>
                  <a:srgbClr val="FF0000"/>
                </a:solidFill>
              </a:rPr>
              <a:t>alcançar os objetivos do Time Scrum</a:t>
            </a:r>
          </a:p>
          <a:p>
            <a:endParaRPr lang="pt-BR" b="1" dirty="0">
              <a:solidFill>
                <a:srgbClr val="FF0000"/>
              </a:solidFill>
            </a:endParaRP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319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1C6C4-5E61-4266-8711-F19056F2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05 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0B83F-8DD4-404A-863E-DF015EF8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Respeito</a:t>
            </a:r>
          </a:p>
          <a:p>
            <a:pPr marL="0" indent="0" algn="just">
              <a:buNone/>
            </a:pPr>
            <a:r>
              <a:rPr lang="pt-BR" dirty="0"/>
              <a:t>	Os membros do Time Scrum respeitam uma aos outros para serem pessoas capazes e independentes. Nós ajudamos um ao outro a ser independente e agente não carrega ninguém nas costas. Se essa pessoa precisa de ajuda agente ajuda essa pessoa a pesca, porque nós somamos uns aos outros.</a:t>
            </a:r>
          </a:p>
          <a:p>
            <a:r>
              <a:rPr lang="pt-BR" b="1" dirty="0">
                <a:solidFill>
                  <a:srgbClr val="FF0000"/>
                </a:solidFill>
              </a:rPr>
              <a:t>Abertura</a:t>
            </a:r>
          </a:p>
          <a:p>
            <a:pPr marL="0" indent="0" algn="just">
              <a:buNone/>
            </a:pPr>
            <a:r>
              <a:rPr lang="pt-BR" dirty="0"/>
              <a:t>	O Time Scrum e seus Stakeholders concordam em estarem abertos a todo o trabalho e aos desafios em a execução dos trabalhos.</a:t>
            </a:r>
          </a:p>
          <a:p>
            <a:pPr marL="0" indent="0" algn="just">
              <a:buNone/>
            </a:pPr>
            <a:r>
              <a:rPr lang="pt-BR" dirty="0"/>
              <a:t>	Abertura não vai consegui do noite para o dia. </a:t>
            </a:r>
          </a:p>
          <a:p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313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0EF1AD97652B4DADC1D5AA481132CA" ma:contentTypeVersion="10" ma:contentTypeDescription="Create a new document." ma:contentTypeScope="" ma:versionID="e762bb7038a98a65ce078203c4fdbc8e">
  <xsd:schema xmlns:xsd="http://www.w3.org/2001/XMLSchema" xmlns:xs="http://www.w3.org/2001/XMLSchema" xmlns:p="http://schemas.microsoft.com/office/2006/metadata/properties" xmlns:ns2="0617cc73-3dc8-4c34-b1f6-14a34af8b1a8" xmlns:ns3="adaa9592-3624-4b81-adae-371221e6c671" targetNamespace="http://schemas.microsoft.com/office/2006/metadata/properties" ma:root="true" ma:fieldsID="696aff764efc42782937039d7c76fb00" ns2:_="" ns3:_="">
    <xsd:import namespace="0617cc73-3dc8-4c34-b1f6-14a34af8b1a8"/>
    <xsd:import namespace="adaa9592-3624-4b81-adae-371221e6c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cc73-3dc8-4c34-b1f6-14a34af8b1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a9592-3624-4b81-adae-371221e6c6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3e00fb-46f0-465e-be18-ab74300d1d8d}" ma:internalName="TaxCatchAll" ma:showField="CatchAllData" ma:web="adaa9592-3624-4b81-adae-371221e6c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17cc73-3dc8-4c34-b1f6-14a34af8b1a8">
      <Terms xmlns="http://schemas.microsoft.com/office/infopath/2007/PartnerControls"/>
    </lcf76f155ced4ddcb4097134ff3c332f>
    <TaxCatchAll xmlns="adaa9592-3624-4b81-adae-371221e6c671" xsi:nil="true"/>
  </documentManagement>
</p:properties>
</file>

<file path=customXml/itemProps1.xml><?xml version="1.0" encoding="utf-8"?>
<ds:datastoreItem xmlns:ds="http://schemas.openxmlformats.org/officeDocument/2006/customXml" ds:itemID="{CB985CC8-ABD1-40B0-8167-1C5759FA7C2F}"/>
</file>

<file path=customXml/itemProps2.xml><?xml version="1.0" encoding="utf-8"?>
<ds:datastoreItem xmlns:ds="http://schemas.openxmlformats.org/officeDocument/2006/customXml" ds:itemID="{12092B59-679A-4767-A691-DBA46F8B7DCE}"/>
</file>

<file path=customXml/itemProps3.xml><?xml version="1.0" encoding="utf-8"?>
<ds:datastoreItem xmlns:ds="http://schemas.openxmlformats.org/officeDocument/2006/customXml" ds:itemID="{D20B2419-5FFE-450B-A26D-8A07B48A4B4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803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Aula Scrum Prof. Claudio Lima</vt:lpstr>
      <vt:lpstr>Situação-problema </vt:lpstr>
      <vt:lpstr>O que são métodos ágeis? </vt:lpstr>
      <vt:lpstr>Método Scrum</vt:lpstr>
      <vt:lpstr>Apresentação do PowerPoint</vt:lpstr>
      <vt:lpstr>Apresentação do PowerPoint</vt:lpstr>
      <vt:lpstr>Apresentação do PowerPoint</vt:lpstr>
      <vt:lpstr>Scrum Master (SM)</vt:lpstr>
      <vt:lpstr>Product Owner (PO)</vt:lpstr>
      <vt:lpstr>Desenvolvedores (Dev Team) </vt:lpstr>
      <vt:lpstr>03 Artefatos (visão do produto)</vt:lpstr>
      <vt:lpstr>Sprint Backlog </vt:lpstr>
      <vt:lpstr>04 Eventos</vt:lpstr>
      <vt:lpstr>05 Valores</vt:lpstr>
      <vt:lpstr>05 Valores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Síncrona da Agenda 13 Prof. Claudio Lima</dc:title>
  <dc:creator>CLAUDIO ETELVINO DE LIMA</dc:creator>
  <cp:lastModifiedBy>CLAUDIO ETELVINO DE LIMA</cp:lastModifiedBy>
  <cp:revision>11</cp:revision>
  <dcterms:created xsi:type="dcterms:W3CDTF">2020-05-26T19:05:23Z</dcterms:created>
  <dcterms:modified xsi:type="dcterms:W3CDTF">2021-02-23T11:55:52Z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0x010100DE0EF1AD97652B4DADC1D5AA481132CA</vt:lpwstr>
  </property>
</Properties>
</file>